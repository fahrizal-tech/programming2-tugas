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6.xml" ContentType="application/vnd.openxmlformats-officedocument.theme+xml"/>
  <Override PartName="/ppt/slideLayouts/slideLayout13.xml" ContentType="application/vnd.openxmlformats-officedocument.presentationml.slideLayout+xml"/>
  <Override PartName="/ppt/theme/theme7.xml" ContentType="application/vnd.openxmlformats-officedocument.theme+xml"/>
  <Override PartName="/ppt/slideLayouts/slideLayout14.xml" ContentType="application/vnd.openxmlformats-officedocument.presentationml.slideLayout+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 id="2147483701" r:id="rId2"/>
    <p:sldMasterId id="2147483692" r:id="rId3"/>
    <p:sldMasterId id="2147483691" r:id="rId4"/>
    <p:sldMasterId id="2147483690" r:id="rId5"/>
    <p:sldMasterId id="2147483648" r:id="rId6"/>
    <p:sldMasterId id="2147483693" r:id="rId7"/>
    <p:sldMasterId id="2147483689" r:id="rId8"/>
  </p:sldMasterIdLst>
  <p:sldIdLst>
    <p:sldId id="258"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70" r:id="rId26"/>
    <p:sldId id="27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57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slideMaster" Target="slideMasters/slideMaster3.xml"/><Relationship Id="rId21" Type="http://schemas.openxmlformats.org/officeDocument/2006/relationships/slide" Target="slides/slide13.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BA360-16FD-48D7-AA37-D01665392D4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882043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BA360-16FD-48D7-AA37-D01665392D4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1258865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6A74D-1C8D-4400-A44B-18C61420D47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416136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314F5-9B88-4A10-889F-F5ED679835B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2386613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F2F78-41F6-4DBD-A49B-20619A8622E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3113582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198065A5-1218-4E69-9EF0-90C3C2E671DF}"/>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513465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916FA04-1396-485D-A609-CD7E92522DD1}"/>
              </a:ext>
            </a:extLst>
          </p:cNvPr>
          <p:cNvCxnSpPr>
            <a:cxnSpLocks/>
          </p:cNvCxnSpPr>
          <p:nvPr userDrawn="1"/>
        </p:nvCxnSpPr>
        <p:spPr>
          <a:xfrm>
            <a:off x="0" y="683288"/>
            <a:ext cx="618978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1FFC4A87-0CB1-45CE-9554-8F044AAEC6A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3579677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916FA04-1396-485D-A609-CD7E92522DD1}"/>
              </a:ext>
            </a:extLst>
          </p:cNvPr>
          <p:cNvCxnSpPr>
            <a:cxnSpLocks/>
          </p:cNvCxnSpPr>
          <p:nvPr userDrawn="1"/>
        </p:nvCxnSpPr>
        <p:spPr>
          <a:xfrm>
            <a:off x="6002215" y="683288"/>
            <a:ext cx="618978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52A5D29-0C74-4DB5-80AC-205E2980DEB0}"/>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1347090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A08D90C-70B8-457C-95AE-141C49C3A3FB}"/>
              </a:ext>
            </a:extLst>
          </p:cNvPr>
          <p:cNvCxnSpPr>
            <a:cxnSpLocks/>
          </p:cNvCxnSpPr>
          <p:nvPr userDrawn="1"/>
        </p:nvCxnSpPr>
        <p:spPr>
          <a:xfrm>
            <a:off x="0" y="683288"/>
            <a:ext cx="1219200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ABE849F3-B6DF-4217-B464-9130928C9C74}"/>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3732110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BEC2E1-0AD8-452E-87EC-4D9066322202}"/>
              </a:ext>
            </a:extLst>
          </p:cNvPr>
          <p:cNvSpPr/>
          <p:nvPr userDrawn="1"/>
        </p:nvSpPr>
        <p:spPr>
          <a:xfrm>
            <a:off x="0" y="0"/>
            <a:ext cx="12192000" cy="108522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Title 3">
            <a:extLst>
              <a:ext uri="{FF2B5EF4-FFF2-40B4-BE49-F238E27FC236}">
                <a16:creationId xmlns:a16="http://schemas.microsoft.com/office/drawing/2014/main" id="{22CC0ADF-8FA4-4472-9031-72E465CB401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3897686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BE2D0A-6E5C-4A94-8EF1-D947C32EBE56}"/>
              </a:ext>
            </a:extLst>
          </p:cNvPr>
          <p:cNvSpPr/>
          <p:nvPr userDrawn="1"/>
        </p:nvSpPr>
        <p:spPr>
          <a:xfrm>
            <a:off x="0" y="80391"/>
            <a:ext cx="12192000" cy="633046"/>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Title 3">
            <a:extLst>
              <a:ext uri="{FF2B5EF4-FFF2-40B4-BE49-F238E27FC236}">
                <a16:creationId xmlns:a16="http://schemas.microsoft.com/office/drawing/2014/main" id="{4898FCA4-6365-4601-85C8-B9BFB43B3CCD}"/>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845764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70B6C2-5A8A-40C2-AE98-493677E13A21}"/>
              </a:ext>
            </a:extLst>
          </p:cNvPr>
          <p:cNvSpPr/>
          <p:nvPr userDrawn="1"/>
        </p:nvSpPr>
        <p:spPr>
          <a:xfrm>
            <a:off x="0" y="60292"/>
            <a:ext cx="12192000" cy="45719"/>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Title 2">
            <a:extLst>
              <a:ext uri="{FF2B5EF4-FFF2-40B4-BE49-F238E27FC236}">
                <a16:creationId xmlns:a16="http://schemas.microsoft.com/office/drawing/2014/main" id="{10892BB0-7181-4898-96B3-7ABD572DA6F9}"/>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962669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3B74E-CCD6-46A2-96AD-028888784453}"/>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513963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CF78D-0AC0-4E71-8350-3BC2A8E4306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3415785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5.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5.png"/><Relationship Id="rId4" Type="http://schemas.openxmlformats.org/officeDocument/2006/relationships/slideLayout" Target="../slideLayouts/slideLayout9.xml"/><Relationship Id="rId9"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13.xml"/><Relationship Id="rId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8.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6310508-6870-44FB-B67F-C3F1350DB66D}"/>
              </a:ext>
            </a:extLst>
          </p:cNvPr>
          <p:cNvSpPr/>
          <p:nvPr userDrawn="1"/>
        </p:nvSpPr>
        <p:spPr>
          <a:xfrm>
            <a:off x="0" y="1"/>
            <a:ext cx="12192000" cy="12044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642" y="38924"/>
            <a:ext cx="1119282" cy="1086491"/>
          </a:xfrm>
          <a:prstGeom prst="rect">
            <a:avLst/>
          </a:prstGeom>
        </p:spPr>
      </p:pic>
      <p:sp>
        <p:nvSpPr>
          <p:cNvPr id="2" name="TextBox 1">
            <a:extLst>
              <a:ext uri="{FF2B5EF4-FFF2-40B4-BE49-F238E27FC236}">
                <a16:creationId xmlns:a16="http://schemas.microsoft.com/office/drawing/2014/main" id="{6456D31B-DA89-4FCC-A0CF-973CBA8BD493}"/>
              </a:ext>
            </a:extLst>
          </p:cNvPr>
          <p:cNvSpPr txBox="1"/>
          <p:nvPr userDrawn="1"/>
        </p:nvSpPr>
        <p:spPr>
          <a:xfrm>
            <a:off x="1218924" y="166670"/>
            <a:ext cx="5886103" cy="830997"/>
          </a:xfrm>
          <a:prstGeom prst="rect">
            <a:avLst/>
          </a:prstGeom>
          <a:noFill/>
        </p:spPr>
        <p:txBody>
          <a:bodyPr wrap="square" rtlCol="0">
            <a:spAutoFit/>
          </a:bodyPr>
          <a:lstStyle/>
          <a:p>
            <a:pPr algn="just"/>
            <a:r>
              <a:rPr lang="en-US" sz="2400" dirty="0"/>
              <a:t>PROGRAM STUDI S1 TEKNIK INFORMATIKA</a:t>
            </a:r>
            <a:br>
              <a:rPr lang="en-US" sz="2400" dirty="0"/>
            </a:br>
            <a:r>
              <a:rPr lang="en-US" sz="2400" dirty="0"/>
              <a:t>UNIVERSITAS PAMULANG</a:t>
            </a:r>
            <a:endParaRPr lang="en-ID" sz="2400" dirty="0"/>
          </a:p>
        </p:txBody>
      </p:sp>
      <p:pic>
        <p:nvPicPr>
          <p:cNvPr id="5" name="Picture 4">
            <a:extLst>
              <a:ext uri="{FF2B5EF4-FFF2-40B4-BE49-F238E27FC236}">
                <a16:creationId xmlns:a16="http://schemas.microsoft.com/office/drawing/2014/main" id="{C960A43D-3921-41B8-B4DC-C239EAEA847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048352" y="0"/>
            <a:ext cx="2143648" cy="1205802"/>
          </a:xfrm>
          <a:prstGeom prst="rect">
            <a:avLst/>
          </a:prstGeom>
        </p:spPr>
      </p:pic>
      <p:sp>
        <p:nvSpPr>
          <p:cNvPr id="6" name="Title Placeholder 5">
            <a:extLst>
              <a:ext uri="{FF2B5EF4-FFF2-40B4-BE49-F238E27FC236}">
                <a16:creationId xmlns:a16="http://schemas.microsoft.com/office/drawing/2014/main" id="{36AE1D4B-E2EF-47C4-A1A7-5689711E6FCE}"/>
              </a:ext>
            </a:extLst>
          </p:cNvPr>
          <p:cNvSpPr>
            <a:spLocks noGrp="1"/>
          </p:cNvSpPr>
          <p:nvPr>
            <p:ph type="title"/>
          </p:nvPr>
        </p:nvSpPr>
        <p:spPr>
          <a:xfrm>
            <a:off x="838200" y="1204467"/>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Flowchart: Process 2">
            <a:extLst>
              <a:ext uri="{FF2B5EF4-FFF2-40B4-BE49-F238E27FC236}">
                <a16:creationId xmlns:a16="http://schemas.microsoft.com/office/drawing/2014/main" id="{59788E57-52DB-4E2B-A81F-D18E71DA02CB}"/>
              </a:ext>
            </a:extLst>
          </p:cNvPr>
          <p:cNvSpPr/>
          <p:nvPr userDrawn="1"/>
        </p:nvSpPr>
        <p:spPr>
          <a:xfrm>
            <a:off x="0" y="6360607"/>
            <a:ext cx="12192000" cy="497393"/>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a:extLst>
              <a:ext uri="{FF2B5EF4-FFF2-40B4-BE49-F238E27FC236}">
                <a16:creationId xmlns:a16="http://schemas.microsoft.com/office/drawing/2014/main" id="{EE8BF5A5-79AC-4428-A4CF-F44278AA4D6F}"/>
              </a:ext>
            </a:extLst>
          </p:cNvPr>
          <p:cNvPicPr>
            <a:picLocks noChangeAspect="1"/>
          </p:cNvPicPr>
          <p:nvPr userDrawn="1"/>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47255" y="6422940"/>
            <a:ext cx="453018" cy="439110"/>
          </a:xfrm>
          <a:prstGeom prst="rect">
            <a:avLst/>
          </a:prstGeom>
        </p:spPr>
      </p:pic>
      <p:pic>
        <p:nvPicPr>
          <p:cNvPr id="12" name="Picture 11">
            <a:extLst>
              <a:ext uri="{FF2B5EF4-FFF2-40B4-BE49-F238E27FC236}">
                <a16:creationId xmlns:a16="http://schemas.microsoft.com/office/drawing/2014/main" id="{0F13C787-49DC-45B2-99DA-FD9DF4541EF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9642" y="6419057"/>
            <a:ext cx="380491" cy="380491"/>
          </a:xfrm>
          <a:prstGeom prst="rect">
            <a:avLst/>
          </a:prstGeom>
        </p:spPr>
      </p:pic>
      <p:sp>
        <p:nvSpPr>
          <p:cNvPr id="13" name="TextBox 12">
            <a:extLst>
              <a:ext uri="{FF2B5EF4-FFF2-40B4-BE49-F238E27FC236}">
                <a16:creationId xmlns:a16="http://schemas.microsoft.com/office/drawing/2014/main" id="{AC0EC3BD-0F33-4AAF-A3A2-953764A0D99A}"/>
              </a:ext>
            </a:extLst>
          </p:cNvPr>
          <p:cNvSpPr txBox="1"/>
          <p:nvPr userDrawn="1"/>
        </p:nvSpPr>
        <p:spPr>
          <a:xfrm>
            <a:off x="480133" y="6412026"/>
            <a:ext cx="1793631" cy="369332"/>
          </a:xfrm>
          <a:prstGeom prst="rect">
            <a:avLst/>
          </a:prstGeom>
          <a:noFill/>
        </p:spPr>
        <p:txBody>
          <a:bodyPr wrap="square" rtlCol="0">
            <a:spAutoFit/>
          </a:bodyPr>
          <a:lstStyle/>
          <a:p>
            <a:r>
              <a:rPr lang="en-US" dirty="0" err="1"/>
              <a:t>InfoTI_unpam</a:t>
            </a:r>
            <a:endParaRPr lang="en-ID" dirty="0"/>
          </a:p>
        </p:txBody>
      </p:sp>
      <p:sp>
        <p:nvSpPr>
          <p:cNvPr id="14" name="TextBox 13">
            <a:extLst>
              <a:ext uri="{FF2B5EF4-FFF2-40B4-BE49-F238E27FC236}">
                <a16:creationId xmlns:a16="http://schemas.microsoft.com/office/drawing/2014/main" id="{60CFA357-EB7B-4C90-B08D-FF68109B966A}"/>
              </a:ext>
            </a:extLst>
          </p:cNvPr>
          <p:cNvSpPr txBox="1"/>
          <p:nvPr userDrawn="1"/>
        </p:nvSpPr>
        <p:spPr>
          <a:xfrm>
            <a:off x="2527388" y="6412026"/>
            <a:ext cx="2697755" cy="369332"/>
          </a:xfrm>
          <a:prstGeom prst="rect">
            <a:avLst/>
          </a:prstGeom>
          <a:noFill/>
        </p:spPr>
        <p:txBody>
          <a:bodyPr wrap="square" rtlCol="0">
            <a:spAutoFit/>
          </a:bodyPr>
          <a:lstStyle/>
          <a:p>
            <a:r>
              <a:rPr lang="en-US" dirty="0"/>
              <a:t>informatika.unpam.ac.id</a:t>
            </a:r>
            <a:endParaRPr lang="en-ID" dirty="0"/>
          </a:p>
        </p:txBody>
      </p:sp>
      <p:pic>
        <p:nvPicPr>
          <p:cNvPr id="16" name="Picture 15">
            <a:extLst>
              <a:ext uri="{FF2B5EF4-FFF2-40B4-BE49-F238E27FC236}">
                <a16:creationId xmlns:a16="http://schemas.microsoft.com/office/drawing/2014/main" id="{C10FF8DC-21DB-400A-A27F-9751868D2AF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1443996" y="6412026"/>
            <a:ext cx="648362" cy="458733"/>
          </a:xfrm>
          <a:prstGeom prst="rect">
            <a:avLst/>
          </a:prstGeom>
        </p:spPr>
      </p:pic>
    </p:spTree>
    <p:extLst>
      <p:ext uri="{BB962C8B-B14F-4D97-AF65-F5344CB8AC3E}">
        <p14:creationId xmlns:p14="http://schemas.microsoft.com/office/powerpoint/2010/main" val="2881310249"/>
      </p:ext>
    </p:extLst>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5">
            <a:extLst>
              <a:ext uri="{FF2B5EF4-FFF2-40B4-BE49-F238E27FC236}">
                <a16:creationId xmlns:a16="http://schemas.microsoft.com/office/drawing/2014/main" id="{36AE1D4B-E2EF-47C4-A1A7-5689711E6FCE}"/>
              </a:ext>
            </a:extLst>
          </p:cNvPr>
          <p:cNvSpPr>
            <a:spLocks noGrp="1"/>
          </p:cNvSpPr>
          <p:nvPr>
            <p:ph type="title"/>
          </p:nvPr>
        </p:nvSpPr>
        <p:spPr>
          <a:xfrm>
            <a:off x="838200" y="1204467"/>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Flowchart: Process 2">
            <a:extLst>
              <a:ext uri="{FF2B5EF4-FFF2-40B4-BE49-F238E27FC236}">
                <a16:creationId xmlns:a16="http://schemas.microsoft.com/office/drawing/2014/main" id="{59788E57-52DB-4E2B-A81F-D18E71DA02CB}"/>
              </a:ext>
            </a:extLst>
          </p:cNvPr>
          <p:cNvSpPr/>
          <p:nvPr userDrawn="1"/>
        </p:nvSpPr>
        <p:spPr>
          <a:xfrm>
            <a:off x="0" y="6360607"/>
            <a:ext cx="12192000" cy="497393"/>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a:extLst>
              <a:ext uri="{FF2B5EF4-FFF2-40B4-BE49-F238E27FC236}">
                <a16:creationId xmlns:a16="http://schemas.microsoft.com/office/drawing/2014/main" id="{EE8BF5A5-79AC-4428-A4CF-F44278AA4D6F}"/>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47255" y="6422940"/>
            <a:ext cx="453018" cy="439110"/>
          </a:xfrm>
          <a:prstGeom prst="rect">
            <a:avLst/>
          </a:prstGeom>
        </p:spPr>
      </p:pic>
      <p:pic>
        <p:nvPicPr>
          <p:cNvPr id="12" name="Picture 11">
            <a:extLst>
              <a:ext uri="{FF2B5EF4-FFF2-40B4-BE49-F238E27FC236}">
                <a16:creationId xmlns:a16="http://schemas.microsoft.com/office/drawing/2014/main" id="{0F13C787-49DC-45B2-99DA-FD9DF4541EF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9642" y="6419057"/>
            <a:ext cx="380491" cy="380491"/>
          </a:xfrm>
          <a:prstGeom prst="rect">
            <a:avLst/>
          </a:prstGeom>
        </p:spPr>
      </p:pic>
      <p:sp>
        <p:nvSpPr>
          <p:cNvPr id="13" name="TextBox 12">
            <a:extLst>
              <a:ext uri="{FF2B5EF4-FFF2-40B4-BE49-F238E27FC236}">
                <a16:creationId xmlns:a16="http://schemas.microsoft.com/office/drawing/2014/main" id="{AC0EC3BD-0F33-4AAF-A3A2-953764A0D99A}"/>
              </a:ext>
            </a:extLst>
          </p:cNvPr>
          <p:cNvSpPr txBox="1"/>
          <p:nvPr userDrawn="1"/>
        </p:nvSpPr>
        <p:spPr>
          <a:xfrm>
            <a:off x="480133" y="6412026"/>
            <a:ext cx="1793631" cy="369332"/>
          </a:xfrm>
          <a:prstGeom prst="rect">
            <a:avLst/>
          </a:prstGeom>
          <a:noFill/>
        </p:spPr>
        <p:txBody>
          <a:bodyPr wrap="square" rtlCol="0">
            <a:spAutoFit/>
          </a:bodyPr>
          <a:lstStyle/>
          <a:p>
            <a:r>
              <a:rPr lang="en-US" dirty="0" err="1"/>
              <a:t>InfoTI_unpam</a:t>
            </a:r>
            <a:endParaRPr lang="en-ID" dirty="0"/>
          </a:p>
        </p:txBody>
      </p:sp>
      <p:sp>
        <p:nvSpPr>
          <p:cNvPr id="14" name="TextBox 13">
            <a:extLst>
              <a:ext uri="{FF2B5EF4-FFF2-40B4-BE49-F238E27FC236}">
                <a16:creationId xmlns:a16="http://schemas.microsoft.com/office/drawing/2014/main" id="{60CFA357-EB7B-4C90-B08D-FF68109B966A}"/>
              </a:ext>
            </a:extLst>
          </p:cNvPr>
          <p:cNvSpPr txBox="1"/>
          <p:nvPr userDrawn="1"/>
        </p:nvSpPr>
        <p:spPr>
          <a:xfrm>
            <a:off x="2527388" y="6412026"/>
            <a:ext cx="2697755" cy="369332"/>
          </a:xfrm>
          <a:prstGeom prst="rect">
            <a:avLst/>
          </a:prstGeom>
          <a:noFill/>
        </p:spPr>
        <p:txBody>
          <a:bodyPr wrap="square" rtlCol="0">
            <a:spAutoFit/>
          </a:bodyPr>
          <a:lstStyle/>
          <a:p>
            <a:r>
              <a:rPr lang="en-US" dirty="0"/>
              <a:t>informatika.unpam.ac.id</a:t>
            </a:r>
            <a:endParaRPr lang="en-ID" dirty="0"/>
          </a:p>
        </p:txBody>
      </p:sp>
      <p:pic>
        <p:nvPicPr>
          <p:cNvPr id="16" name="Picture 15">
            <a:extLst>
              <a:ext uri="{FF2B5EF4-FFF2-40B4-BE49-F238E27FC236}">
                <a16:creationId xmlns:a16="http://schemas.microsoft.com/office/drawing/2014/main" id="{C10FF8DC-21DB-400A-A27F-9751868D2AF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443996" y="6412026"/>
            <a:ext cx="648362" cy="458733"/>
          </a:xfrm>
          <a:prstGeom prst="rect">
            <a:avLst/>
          </a:prstGeom>
        </p:spPr>
      </p:pic>
      <p:pic>
        <p:nvPicPr>
          <p:cNvPr id="15" name="Picture 14">
            <a:extLst>
              <a:ext uri="{FF2B5EF4-FFF2-40B4-BE49-F238E27FC236}">
                <a16:creationId xmlns:a16="http://schemas.microsoft.com/office/drawing/2014/main" id="{70E9772E-AF4F-4C17-B477-D78352308CB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931590" y="6366986"/>
            <a:ext cx="512406" cy="497394"/>
          </a:xfrm>
          <a:prstGeom prst="rect">
            <a:avLst/>
          </a:prstGeom>
        </p:spPr>
      </p:pic>
    </p:spTree>
    <p:extLst>
      <p:ext uri="{BB962C8B-B14F-4D97-AF65-F5344CB8AC3E}">
        <p14:creationId xmlns:p14="http://schemas.microsoft.com/office/powerpoint/2010/main" val="1391861668"/>
      </p:ext>
    </p:extLst>
  </p:cSld>
  <p:clrMap bg1="lt1" tx1="dk1" bg2="lt2" tx2="dk2" accent1="accent1" accent2="accent2" accent3="accent3" accent4="accent4" accent5="accent5" accent6="accent6" hlink="hlink" folHlink="folHlink"/>
  <p:sldLayoutIdLst>
    <p:sldLayoutId id="214748370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2" name="TextBox 1">
            <a:extLst>
              <a:ext uri="{FF2B5EF4-FFF2-40B4-BE49-F238E27FC236}">
                <a16:creationId xmlns:a16="http://schemas.microsoft.com/office/drawing/2014/main" id="{A7710A05-4BC0-4640-9166-A8A038BAD88C}"/>
              </a:ext>
            </a:extLst>
          </p:cNvPr>
          <p:cNvSpPr txBox="1"/>
          <p:nvPr userDrawn="1"/>
        </p:nvSpPr>
        <p:spPr>
          <a:xfrm>
            <a:off x="3898760" y="2622619"/>
            <a:ext cx="5194999" cy="923330"/>
          </a:xfrm>
          <a:prstGeom prst="rect">
            <a:avLst/>
          </a:prstGeom>
          <a:noFill/>
        </p:spPr>
        <p:txBody>
          <a:bodyPr wrap="square" rtlCol="0">
            <a:spAutoFit/>
          </a:bodyPr>
          <a:lstStyle/>
          <a:p>
            <a:r>
              <a:rPr lang="en-US" sz="5400" dirty="0"/>
              <a:t>TERIMA KASIH</a:t>
            </a:r>
            <a:endParaRPr lang="en-ID" sz="5400" dirty="0"/>
          </a:p>
        </p:txBody>
      </p:sp>
    </p:spTree>
    <p:extLst>
      <p:ext uri="{BB962C8B-B14F-4D97-AF65-F5344CB8AC3E}">
        <p14:creationId xmlns:p14="http://schemas.microsoft.com/office/powerpoint/2010/main" val="321173633"/>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6" name="Flowchart: Process 5">
            <a:extLst>
              <a:ext uri="{FF2B5EF4-FFF2-40B4-BE49-F238E27FC236}">
                <a16:creationId xmlns:a16="http://schemas.microsoft.com/office/drawing/2014/main" id="{38F377F8-55ED-4437-98B9-2D2AA5DD3B4A}"/>
              </a:ext>
            </a:extLst>
          </p:cNvPr>
          <p:cNvSpPr/>
          <p:nvPr userDrawn="1"/>
        </p:nvSpPr>
        <p:spPr>
          <a:xfrm>
            <a:off x="0" y="2582426"/>
            <a:ext cx="12192000" cy="646385"/>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TERIMA KASIH, MAHASISWA TEKNIK INFORMATIKA UNGGUL, ANDA SUDAH BELAJAR DENGAN LUAR BIASA</a:t>
            </a:r>
            <a:endParaRPr lang="en-ID" dirty="0"/>
          </a:p>
        </p:txBody>
      </p:sp>
    </p:spTree>
    <p:extLst>
      <p:ext uri="{BB962C8B-B14F-4D97-AF65-F5344CB8AC3E}">
        <p14:creationId xmlns:p14="http://schemas.microsoft.com/office/powerpoint/2010/main" val="2973921547"/>
      </p:ext>
    </p:extLst>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5A30DD-8BE8-42A1-85CC-D069AF516FB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57600" y="2057400"/>
            <a:ext cx="4876800" cy="2743200"/>
          </a:xfrm>
          <a:prstGeom prst="rect">
            <a:avLst/>
          </a:prstGeom>
        </p:spPr>
      </p:pic>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6" name="Flowchart: Process 5">
            <a:extLst>
              <a:ext uri="{FF2B5EF4-FFF2-40B4-BE49-F238E27FC236}">
                <a16:creationId xmlns:a16="http://schemas.microsoft.com/office/drawing/2014/main" id="{38F377F8-55ED-4437-98B9-2D2AA5DD3B4A}"/>
              </a:ext>
            </a:extLst>
          </p:cNvPr>
          <p:cNvSpPr/>
          <p:nvPr userDrawn="1"/>
        </p:nvSpPr>
        <p:spPr>
          <a:xfrm>
            <a:off x="0" y="0"/>
            <a:ext cx="12192000" cy="646385"/>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TERIMA KASIH, MAHASISWA TEKNIK INFORMATIKA UNGGUL, ANDA SUDAH BELAJAR DENGAN LUAR BIASA</a:t>
            </a:r>
            <a:endParaRPr lang="en-ID" dirty="0"/>
          </a:p>
        </p:txBody>
      </p:sp>
    </p:spTree>
    <p:extLst>
      <p:ext uri="{BB962C8B-B14F-4D97-AF65-F5344CB8AC3E}">
        <p14:creationId xmlns:p14="http://schemas.microsoft.com/office/powerpoint/2010/main" val="2404665397"/>
      </p:ext>
    </p:extLst>
  </p:cSld>
  <p:clrMap bg1="lt1" tx1="dk1" bg2="lt2" tx2="dk2" accent1="accent1" accent2="accent2" accent3="accent3" accent4="accent4" accent5="accent5" accent6="accent6" hlink="hlink" folHlink="folHlink"/>
  <p:sldLayoutIdLst>
    <p:sldLayoutId id="214748369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34" name="Text Placeholder 33">
            <a:extLst>
              <a:ext uri="{FF2B5EF4-FFF2-40B4-BE49-F238E27FC236}">
                <a16:creationId xmlns:a16="http://schemas.microsoft.com/office/drawing/2014/main" id="{73922ECC-A830-4C03-9B45-AEB8C3D23C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35" name="Title Placeholder 34">
            <a:extLst>
              <a:ext uri="{FF2B5EF4-FFF2-40B4-BE49-F238E27FC236}">
                <a16:creationId xmlns:a16="http://schemas.microsoft.com/office/drawing/2014/main" id="{862CBB9D-7640-4DCE-8E7A-C98B9F67D6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Tree>
    <p:extLst>
      <p:ext uri="{BB962C8B-B14F-4D97-AF65-F5344CB8AC3E}">
        <p14:creationId xmlns:p14="http://schemas.microsoft.com/office/powerpoint/2010/main" val="3801620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85" r:id="rId3"/>
    <p:sldLayoutId id="2147483652" r:id="rId4"/>
    <p:sldLayoutId id="2147483651" r:id="rId5"/>
    <p:sldLayoutId id="2147483686" r:id="rId6"/>
    <p:sldLayoutId id="214748368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6310508-6870-44FB-B67F-C3F1350DB66D}"/>
              </a:ext>
            </a:extLst>
          </p:cNvPr>
          <p:cNvSpPr/>
          <p:nvPr userDrawn="1"/>
        </p:nvSpPr>
        <p:spPr>
          <a:xfrm>
            <a:off x="0" y="1"/>
            <a:ext cx="12192000" cy="12044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642" y="38924"/>
            <a:ext cx="1119282" cy="1086491"/>
          </a:xfrm>
          <a:prstGeom prst="rect">
            <a:avLst/>
          </a:prstGeom>
        </p:spPr>
      </p:pic>
      <p:sp>
        <p:nvSpPr>
          <p:cNvPr id="2" name="TextBox 1">
            <a:extLst>
              <a:ext uri="{FF2B5EF4-FFF2-40B4-BE49-F238E27FC236}">
                <a16:creationId xmlns:a16="http://schemas.microsoft.com/office/drawing/2014/main" id="{6456D31B-DA89-4FCC-A0CF-973CBA8BD493}"/>
              </a:ext>
            </a:extLst>
          </p:cNvPr>
          <p:cNvSpPr txBox="1"/>
          <p:nvPr userDrawn="1"/>
        </p:nvSpPr>
        <p:spPr>
          <a:xfrm>
            <a:off x="1218924" y="166670"/>
            <a:ext cx="5886103" cy="830997"/>
          </a:xfrm>
          <a:prstGeom prst="rect">
            <a:avLst/>
          </a:prstGeom>
          <a:noFill/>
        </p:spPr>
        <p:txBody>
          <a:bodyPr wrap="square" rtlCol="0">
            <a:spAutoFit/>
          </a:bodyPr>
          <a:lstStyle/>
          <a:p>
            <a:pPr algn="just"/>
            <a:r>
              <a:rPr lang="en-US" sz="2400" dirty="0"/>
              <a:t>PROGRAM STUDI S1 TEKNIK INFORMATIKA</a:t>
            </a:r>
            <a:br>
              <a:rPr lang="en-US" sz="2400" dirty="0"/>
            </a:br>
            <a:r>
              <a:rPr lang="en-US" sz="2400" dirty="0"/>
              <a:t>UNIVERSITAS PAMULANG</a:t>
            </a:r>
            <a:endParaRPr lang="en-ID" sz="2400" dirty="0"/>
          </a:p>
        </p:txBody>
      </p:sp>
      <p:pic>
        <p:nvPicPr>
          <p:cNvPr id="5" name="Picture 4">
            <a:extLst>
              <a:ext uri="{FF2B5EF4-FFF2-40B4-BE49-F238E27FC236}">
                <a16:creationId xmlns:a16="http://schemas.microsoft.com/office/drawing/2014/main" id="{C960A43D-3921-41B8-B4DC-C239EAEA847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048352" y="0"/>
            <a:ext cx="2143648" cy="1205802"/>
          </a:xfrm>
          <a:prstGeom prst="rect">
            <a:avLst/>
          </a:prstGeom>
        </p:spPr>
      </p:pic>
      <p:sp>
        <p:nvSpPr>
          <p:cNvPr id="6" name="Title Placeholder 5">
            <a:extLst>
              <a:ext uri="{FF2B5EF4-FFF2-40B4-BE49-F238E27FC236}">
                <a16:creationId xmlns:a16="http://schemas.microsoft.com/office/drawing/2014/main" id="{36AE1D4B-E2EF-47C4-A1A7-5689711E6FCE}"/>
              </a:ext>
            </a:extLst>
          </p:cNvPr>
          <p:cNvSpPr>
            <a:spLocks noGrp="1"/>
          </p:cNvSpPr>
          <p:nvPr>
            <p:ph type="title"/>
          </p:nvPr>
        </p:nvSpPr>
        <p:spPr>
          <a:xfrm>
            <a:off x="838200" y="1204467"/>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10" name="Text Placeholder 9">
            <a:extLst>
              <a:ext uri="{FF2B5EF4-FFF2-40B4-BE49-F238E27FC236}">
                <a16:creationId xmlns:a16="http://schemas.microsoft.com/office/drawing/2014/main" id="{3FA5E565-A9FD-45A9-9262-E4CE87B5C47A}"/>
              </a:ext>
            </a:extLst>
          </p:cNvPr>
          <p:cNvSpPr>
            <a:spLocks noGrp="1"/>
          </p:cNvSpPr>
          <p:nvPr>
            <p:ph type="body" idx="1"/>
          </p:nvPr>
        </p:nvSpPr>
        <p:spPr>
          <a:xfrm>
            <a:off x="838200" y="2329881"/>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440609619"/>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7122B0-D188-4F1B-9170-48FB515F7D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Tree>
    <p:extLst>
      <p:ext uri="{BB962C8B-B14F-4D97-AF65-F5344CB8AC3E}">
        <p14:creationId xmlns:p14="http://schemas.microsoft.com/office/powerpoint/2010/main" val="4026085888"/>
      </p:ext>
    </p:extLst>
  </p:cSld>
  <p:clrMap bg1="lt1" tx1="dk1" bg2="lt2" tx2="dk2" accent1="accent1" accent2="accent2" accent3="accent3" accent4="accent4" accent5="accent5" accent6="accent6" hlink="hlink" folHlink="folHlink"/>
  <p:sldLayoutIdLst>
    <p:sldLayoutId id="214748370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C18E5C-D4B9-4152-800A-092B85F5075A}"/>
              </a:ext>
            </a:extLst>
          </p:cNvPr>
          <p:cNvSpPr txBox="1"/>
          <p:nvPr/>
        </p:nvSpPr>
        <p:spPr>
          <a:xfrm>
            <a:off x="4670473" y="5060314"/>
            <a:ext cx="7760082" cy="1323439"/>
          </a:xfrm>
          <a:prstGeom prst="rect">
            <a:avLst/>
          </a:prstGeom>
          <a:noFill/>
        </p:spPr>
        <p:txBody>
          <a:bodyPr wrap="square" rtlCol="0">
            <a:spAutoFit/>
          </a:bodyPr>
          <a:lstStyle/>
          <a:p>
            <a:r>
              <a:rPr lang="en-US" sz="8000">
                <a:ln>
                  <a:solidFill>
                    <a:schemeClr val="tx1"/>
                  </a:solidFill>
                </a:ln>
                <a:solidFill>
                  <a:schemeClr val="accent4"/>
                </a:solidFill>
                <a:latin typeface="Fira Sans ExtraBold" panose="020B0903050000020004" pitchFamily="34" charset="0"/>
              </a:rPr>
              <a:t>Pemrograman 2</a:t>
            </a:r>
          </a:p>
        </p:txBody>
      </p:sp>
    </p:spTree>
    <p:extLst>
      <p:ext uri="{BB962C8B-B14F-4D97-AF65-F5344CB8AC3E}">
        <p14:creationId xmlns:p14="http://schemas.microsoft.com/office/powerpoint/2010/main" val="2007525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503ED-9D61-454B-8EDA-5B50615338EB}"/>
              </a:ext>
            </a:extLst>
          </p:cNvPr>
          <p:cNvSpPr>
            <a:spLocks noGrp="1"/>
          </p:cNvSpPr>
          <p:nvPr>
            <p:ph type="title"/>
          </p:nvPr>
        </p:nvSpPr>
        <p:spPr>
          <a:xfrm>
            <a:off x="0" y="0"/>
            <a:ext cx="12192000" cy="2138955"/>
          </a:xfrm>
          <a:solidFill>
            <a:schemeClr val="accent6"/>
          </a:solidFill>
        </p:spPr>
        <p:txBody>
          <a:bodyPr>
            <a:normAutofit/>
          </a:bodyPr>
          <a:lstStyle/>
          <a:p>
            <a:r>
              <a:rPr lang="en-ID" sz="9600">
                <a:solidFill>
                  <a:schemeClr val="bg1"/>
                </a:solidFill>
                <a:latin typeface="Fira Sans ExtraBold" panose="020B0903050000020004" pitchFamily="34" charset="0"/>
              </a:rPr>
              <a:t>Pertemuan 10</a:t>
            </a:r>
          </a:p>
        </p:txBody>
      </p:sp>
      <p:sp>
        <p:nvSpPr>
          <p:cNvPr id="3" name="Title 1">
            <a:extLst>
              <a:ext uri="{FF2B5EF4-FFF2-40B4-BE49-F238E27FC236}">
                <a16:creationId xmlns:a16="http://schemas.microsoft.com/office/drawing/2014/main" id="{746B6EFA-706E-449D-900A-56E2448FC571}"/>
              </a:ext>
            </a:extLst>
          </p:cNvPr>
          <p:cNvSpPr txBox="1">
            <a:spLocks/>
          </p:cNvSpPr>
          <p:nvPr/>
        </p:nvSpPr>
        <p:spPr>
          <a:xfrm>
            <a:off x="3928055" y="3429000"/>
            <a:ext cx="7965833" cy="258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ID" sz="6600">
                <a:solidFill>
                  <a:schemeClr val="bg1">
                    <a:lumMod val="50000"/>
                  </a:schemeClr>
                </a:solidFill>
                <a:latin typeface="Antipasto Pro Bold" panose="02000506020000020004" pitchFamily="2" charset="0"/>
              </a:rPr>
              <a:t>DASAR SERVLET dan JSP </a:t>
            </a:r>
          </a:p>
        </p:txBody>
      </p:sp>
    </p:spTree>
    <p:extLst>
      <p:ext uri="{BB962C8B-B14F-4D97-AF65-F5344CB8AC3E}">
        <p14:creationId xmlns:p14="http://schemas.microsoft.com/office/powerpoint/2010/main" val="2583454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F81D12BC-656B-4235-9804-3DE18367E954}"/>
              </a:ext>
            </a:extLst>
          </p:cNvPr>
          <p:cNvSpPr txBox="1">
            <a:spLocks/>
          </p:cNvSpPr>
          <p:nvPr/>
        </p:nvSpPr>
        <p:spPr>
          <a:xfrm>
            <a:off x="0" y="0"/>
            <a:ext cx="11573197" cy="724247"/>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a:latin typeface="Arial (Headings)"/>
              </a:rPr>
              <a:t>Aplikasi Web</a:t>
            </a:r>
          </a:p>
        </p:txBody>
      </p:sp>
      <p:sp>
        <p:nvSpPr>
          <p:cNvPr id="4" name="TextBox 3">
            <a:extLst>
              <a:ext uri="{FF2B5EF4-FFF2-40B4-BE49-F238E27FC236}">
                <a16:creationId xmlns:a16="http://schemas.microsoft.com/office/drawing/2014/main" id="{3A8B1FD9-3E8E-4C6F-BCAE-09CA0AD18EA9}"/>
              </a:ext>
            </a:extLst>
          </p:cNvPr>
          <p:cNvSpPr txBox="1"/>
          <p:nvPr/>
        </p:nvSpPr>
        <p:spPr>
          <a:xfrm>
            <a:off x="141667" y="1144923"/>
            <a:ext cx="11109558" cy="707886"/>
          </a:xfrm>
          <a:prstGeom prst="rect">
            <a:avLst/>
          </a:prstGeom>
          <a:noFill/>
        </p:spPr>
        <p:txBody>
          <a:bodyPr wrap="square">
            <a:spAutoFit/>
          </a:bodyPr>
          <a:lstStyle/>
          <a:p>
            <a:r>
              <a:rPr lang="en-US" sz="2000">
                <a:solidFill>
                  <a:srgbClr val="000000"/>
                </a:solidFill>
                <a:latin typeface="Arial" panose="020B0604020202020204" pitchFamily="34" charset="0"/>
                <a:cs typeface="Arial" panose="020B0604020202020204" pitchFamily="34" charset="0"/>
              </a:rPr>
              <a:t>Aplikasi web merupakan sebuah aplikasi yang menggunakan  teknologi browser </a:t>
            </a:r>
            <a:r>
              <a:rPr lang="nl-NL" sz="2000">
                <a:solidFill>
                  <a:srgbClr val="000000"/>
                </a:solidFill>
                <a:latin typeface="Arial" panose="020B0604020202020204" pitchFamily="34" charset="0"/>
                <a:cs typeface="Arial" panose="020B0604020202020204" pitchFamily="34" charset="0"/>
              </a:rPr>
              <a:t>untuk menjalankan aplikasi dan diakses melalui jaringan computer</a:t>
            </a:r>
            <a:endParaRPr lang="en-US" sz="200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A7534BD-F15F-4674-BE36-3FA05A04ADA9}"/>
              </a:ext>
            </a:extLst>
          </p:cNvPr>
          <p:cNvSpPr txBox="1"/>
          <p:nvPr/>
        </p:nvSpPr>
        <p:spPr>
          <a:xfrm>
            <a:off x="141667" y="2142870"/>
            <a:ext cx="11431530" cy="2862322"/>
          </a:xfrm>
          <a:prstGeom prst="rect">
            <a:avLst/>
          </a:prstGeom>
          <a:noFill/>
        </p:spPr>
        <p:txBody>
          <a:bodyPr wrap="square">
            <a:spAutoFit/>
          </a:bodyPr>
          <a:lstStyle>
            <a:defPPr>
              <a:defRPr lang="en-US"/>
            </a:defPPr>
            <a:lvl1pPr>
              <a:defRPr sz="2000">
                <a:solidFill>
                  <a:srgbClr val="000000"/>
                </a:solidFill>
                <a:latin typeface="Arial" panose="020B0604020202020204" pitchFamily="34" charset="0"/>
                <a:cs typeface="Arial" panose="020B0604020202020204" pitchFamily="34" charset="0"/>
              </a:defRPr>
            </a:lvl1pPr>
          </a:lstStyle>
          <a:p>
            <a:r>
              <a:rPr lang="en-US"/>
              <a:t>Aplikasi web juga merupakan suatu perangkat lunak  computer yang dikodekan dalam bahasa pemrograman yang mendukung perangkat lunak berbasis web, seperti </a:t>
            </a:r>
          </a:p>
          <a:p>
            <a:pPr marL="342900" indent="-342900">
              <a:buFont typeface="Arial" panose="020B0604020202020204" pitchFamily="34" charset="0"/>
              <a:buChar char="•"/>
            </a:pPr>
            <a:r>
              <a:rPr lang="en-US"/>
              <a:t>HTML, </a:t>
            </a:r>
          </a:p>
          <a:p>
            <a:pPr marL="342900" indent="-342900">
              <a:buFont typeface="Arial" panose="020B0604020202020204" pitchFamily="34" charset="0"/>
              <a:buChar char="•"/>
            </a:pPr>
            <a:r>
              <a:rPr lang="en-US"/>
              <a:t>JavaScript, </a:t>
            </a:r>
          </a:p>
          <a:p>
            <a:pPr marL="342900" indent="-342900">
              <a:buFont typeface="Arial" panose="020B0604020202020204" pitchFamily="34" charset="0"/>
              <a:buChar char="•"/>
            </a:pPr>
            <a:r>
              <a:rPr lang="en-US"/>
              <a:t>CSS, </a:t>
            </a:r>
          </a:p>
          <a:p>
            <a:pPr marL="342900" indent="-342900">
              <a:buFont typeface="Arial" panose="020B0604020202020204" pitchFamily="34" charset="0"/>
              <a:buChar char="•"/>
            </a:pPr>
            <a:r>
              <a:rPr lang="en-US"/>
              <a:t>Ruby, </a:t>
            </a:r>
          </a:p>
          <a:p>
            <a:pPr marL="342900" indent="-342900">
              <a:buFont typeface="Arial" panose="020B0604020202020204" pitchFamily="34" charset="0"/>
              <a:buChar char="•"/>
            </a:pPr>
            <a:r>
              <a:rPr lang="en-US"/>
              <a:t>Phyton,</a:t>
            </a:r>
          </a:p>
          <a:p>
            <a:pPr marL="342900" indent="-342900">
              <a:buFont typeface="Arial" panose="020B0604020202020204" pitchFamily="34" charset="0"/>
              <a:buChar char="•"/>
            </a:pPr>
            <a:r>
              <a:rPr lang="en-US"/>
              <a:t>PHP, </a:t>
            </a:r>
          </a:p>
          <a:p>
            <a:pPr marL="342900" indent="-342900">
              <a:buFont typeface="Arial" panose="020B0604020202020204" pitchFamily="34" charset="0"/>
              <a:buChar char="•"/>
            </a:pPr>
            <a:r>
              <a:rPr lang="en-US"/>
              <a:t>Java. </a:t>
            </a:r>
          </a:p>
        </p:txBody>
      </p:sp>
    </p:spTree>
    <p:extLst>
      <p:ext uri="{BB962C8B-B14F-4D97-AF65-F5344CB8AC3E}">
        <p14:creationId xmlns:p14="http://schemas.microsoft.com/office/powerpoint/2010/main" val="4034098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534962-F4BF-4757-901C-BABD150DEF5A}"/>
              </a:ext>
            </a:extLst>
          </p:cNvPr>
          <p:cNvSpPr txBox="1"/>
          <p:nvPr/>
        </p:nvSpPr>
        <p:spPr>
          <a:xfrm>
            <a:off x="261870" y="1106079"/>
            <a:ext cx="11668259" cy="2222403"/>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sz="1800">
                <a:solidFill>
                  <a:srgbClr val="000000"/>
                </a:solidFill>
                <a:latin typeface="Arial" panose="020B0604020202020204" pitchFamily="34" charset="0"/>
                <a:cs typeface="Arial" panose="020B0604020202020204" pitchFamily="34" charset="0"/>
              </a:rPr>
              <a:t>Dalam lingkungan Java, pemrograman web dipisahkan secara jelas dari pemrograman Enterprise. </a:t>
            </a:r>
          </a:p>
          <a:p>
            <a:pPr marL="285750" indent="-285750" algn="just">
              <a:lnSpc>
                <a:spcPct val="200000"/>
              </a:lnSpc>
              <a:buFont typeface="Arial" panose="020B0604020202020204" pitchFamily="34" charset="0"/>
              <a:buChar char="•"/>
            </a:pPr>
            <a:r>
              <a:rPr lang="en-US" sz="1800">
                <a:solidFill>
                  <a:srgbClr val="000000"/>
                </a:solidFill>
                <a:latin typeface="Arial" panose="020B0604020202020204" pitchFamily="34" charset="0"/>
                <a:cs typeface="Arial" panose="020B0604020202020204" pitchFamily="34" charset="0"/>
              </a:rPr>
              <a:t>Aplikasi web dapat dibuat tanpa memakai paket  Enterprise Edition. Aplikasi web memakai komponen web, yaitu Servlet dan </a:t>
            </a:r>
            <a:r>
              <a:rPr lang="en-US" sz="1800" i="1">
                <a:solidFill>
                  <a:srgbClr val="000000"/>
                </a:solidFill>
                <a:latin typeface="Arial" panose="020B0604020202020204" pitchFamily="34" charset="0"/>
                <a:cs typeface="Arial" panose="020B0604020202020204" pitchFamily="34" charset="0"/>
              </a:rPr>
              <a:t>Java Server Page </a:t>
            </a:r>
            <a:r>
              <a:rPr lang="en-US" sz="1800">
                <a:solidFill>
                  <a:srgbClr val="000000"/>
                </a:solidFill>
                <a:latin typeface="Arial" panose="020B0604020202020204" pitchFamily="34" charset="0"/>
                <a:cs typeface="Arial" panose="020B0604020202020204" pitchFamily="34" charset="0"/>
              </a:rPr>
              <a:t>(JSP). </a:t>
            </a:r>
          </a:p>
          <a:p>
            <a:pPr marL="285750" indent="-285750" algn="just">
              <a:lnSpc>
                <a:spcPct val="200000"/>
              </a:lnSpc>
              <a:buFont typeface="Arial" panose="020B0604020202020204" pitchFamily="34" charset="0"/>
              <a:buChar char="•"/>
            </a:pPr>
            <a:r>
              <a:rPr lang="en-US" sz="1800">
                <a:solidFill>
                  <a:srgbClr val="000000"/>
                </a:solidFill>
                <a:latin typeface="Arial" panose="020B0604020202020204" pitchFamily="34" charset="0"/>
                <a:cs typeface="Arial" panose="020B0604020202020204" pitchFamily="34" charset="0"/>
              </a:rPr>
              <a:t>Sedangkan Aplikasi Enterprise bisa mencakup modul-modul </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1810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808181-6DA0-42FD-9D7B-5C3478AA2592}"/>
              </a:ext>
            </a:extLst>
          </p:cNvPr>
          <p:cNvSpPr txBox="1"/>
          <p:nvPr/>
        </p:nvSpPr>
        <p:spPr>
          <a:xfrm>
            <a:off x="193183" y="246775"/>
            <a:ext cx="6156100" cy="369332"/>
          </a:xfrm>
          <a:prstGeom prst="rect">
            <a:avLst/>
          </a:prstGeom>
          <a:noFill/>
        </p:spPr>
        <p:txBody>
          <a:bodyPr wrap="square">
            <a:spAutoFit/>
          </a:bodyPr>
          <a:lstStyle/>
          <a:p>
            <a:r>
              <a:rPr lang="en-US" sz="1800" b="1">
                <a:solidFill>
                  <a:srgbClr val="000000"/>
                </a:solidFill>
                <a:latin typeface="Arial" panose="020B0604020202020204" pitchFamily="34" charset="0"/>
              </a:rPr>
              <a:t>Pengenalan Session dan Cookies pada Web</a:t>
            </a:r>
            <a:endParaRPr lang="en-US"/>
          </a:p>
        </p:txBody>
      </p:sp>
      <p:sp>
        <p:nvSpPr>
          <p:cNvPr id="5" name="TextBox 4">
            <a:extLst>
              <a:ext uri="{FF2B5EF4-FFF2-40B4-BE49-F238E27FC236}">
                <a16:creationId xmlns:a16="http://schemas.microsoft.com/office/drawing/2014/main" id="{6F25F2C1-D192-4178-A370-A2B7EFF64C47}"/>
              </a:ext>
            </a:extLst>
          </p:cNvPr>
          <p:cNvSpPr txBox="1"/>
          <p:nvPr/>
        </p:nvSpPr>
        <p:spPr>
          <a:xfrm>
            <a:off x="193183" y="887139"/>
            <a:ext cx="11204620" cy="1200329"/>
          </a:xfrm>
          <a:prstGeom prst="rect">
            <a:avLst/>
          </a:prstGeom>
          <a:noFill/>
        </p:spPr>
        <p:txBody>
          <a:bodyPr wrap="square">
            <a:spAutoFit/>
          </a:bodyPr>
          <a:lstStyle/>
          <a:p>
            <a:pPr algn="just"/>
            <a:r>
              <a:rPr lang="en-US" sz="1800" b="1">
                <a:solidFill>
                  <a:srgbClr val="000000"/>
                </a:solidFill>
                <a:latin typeface="Arial" panose="020B0604020202020204" pitchFamily="34" charset="0"/>
                <a:cs typeface="Arial" panose="020B0604020202020204" pitchFamily="34" charset="0"/>
              </a:rPr>
              <a:t>• Session</a:t>
            </a:r>
          </a:p>
          <a:p>
            <a:pPr algn="just"/>
            <a:r>
              <a:rPr lang="en-US" sz="1800">
                <a:solidFill>
                  <a:srgbClr val="000000"/>
                </a:solidFill>
                <a:latin typeface="Arial" panose="020B0604020202020204" pitchFamily="34" charset="0"/>
                <a:cs typeface="Arial" panose="020B0604020202020204" pitchFamily="34" charset="0"/>
              </a:rPr>
              <a:t>Session digunakan untuk melakukan identifikasi client, misalnya untuk menyimpan data user dan password ketika mengakses suatu halaman web dan menyimpannya sebagai data sementara di dalam memori browser selama mengakses alamat web tertentu. </a:t>
            </a:r>
            <a:endParaRPr lang="en-US">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E89DE92-3A67-4777-9AD8-4CCAB6E87CA3}"/>
              </a:ext>
            </a:extLst>
          </p:cNvPr>
          <p:cNvSpPr txBox="1"/>
          <p:nvPr/>
        </p:nvSpPr>
        <p:spPr>
          <a:xfrm>
            <a:off x="193183" y="2690336"/>
            <a:ext cx="11500834" cy="1477328"/>
          </a:xfrm>
          <a:prstGeom prst="rect">
            <a:avLst/>
          </a:prstGeom>
          <a:noFill/>
        </p:spPr>
        <p:txBody>
          <a:bodyPr wrap="square">
            <a:spAutoFit/>
          </a:bodyPr>
          <a:lstStyle>
            <a:defPPr>
              <a:defRPr lang="en-US"/>
            </a:defPPr>
            <a:lvl1pPr algn="just">
              <a:defRPr>
                <a:solidFill>
                  <a:srgbClr val="000000"/>
                </a:solidFill>
                <a:latin typeface="Arial" panose="020B0604020202020204" pitchFamily="34" charset="0"/>
                <a:cs typeface="Arial" panose="020B0604020202020204" pitchFamily="34" charset="0"/>
              </a:defRPr>
            </a:lvl1pPr>
          </a:lstStyle>
          <a:p>
            <a:r>
              <a:rPr lang="en-US"/>
              <a:t>• </a:t>
            </a:r>
            <a:r>
              <a:rPr lang="en-US" b="1"/>
              <a:t>Cookies </a:t>
            </a:r>
          </a:p>
          <a:p>
            <a:r>
              <a:rPr lang="en-US"/>
              <a:t>Cookies adalah sekumpulan data yang disimpan di dalam file teks yang </a:t>
            </a:r>
            <a:r>
              <a:rPr lang="pt-BR"/>
              <a:t>digunakan selama mengakses alamat web tertentu. Server hanya membaca </a:t>
            </a:r>
            <a:r>
              <a:rPr lang="en-US"/>
              <a:t>apa yang tertera di dalam cookies yang berasal dari server itu sendiri. </a:t>
            </a:r>
          </a:p>
          <a:p>
            <a:r>
              <a:rPr lang="en-US"/>
              <a:t>Misalnya untuk menyimpan data kapan terakhir mengakses suatu halaman  </a:t>
            </a:r>
            <a:r>
              <a:rPr lang="fi-FI"/>
              <a:t>web. Cookies akan terhapus jika masa berlaku sudah habis.</a:t>
            </a:r>
          </a:p>
        </p:txBody>
      </p:sp>
    </p:spTree>
    <p:extLst>
      <p:ext uri="{BB962C8B-B14F-4D97-AF65-F5344CB8AC3E}">
        <p14:creationId xmlns:p14="http://schemas.microsoft.com/office/powerpoint/2010/main" val="2183979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3E3497-BB94-4F95-86BF-D20601FC7087}"/>
              </a:ext>
            </a:extLst>
          </p:cNvPr>
          <p:cNvSpPr txBox="1"/>
          <p:nvPr/>
        </p:nvSpPr>
        <p:spPr>
          <a:xfrm>
            <a:off x="141668" y="169502"/>
            <a:ext cx="6156100" cy="369332"/>
          </a:xfrm>
          <a:prstGeom prst="rect">
            <a:avLst/>
          </a:prstGeom>
          <a:noFill/>
        </p:spPr>
        <p:txBody>
          <a:bodyPr wrap="square">
            <a:spAutoFit/>
          </a:bodyPr>
          <a:lstStyle/>
          <a:p>
            <a:r>
              <a:rPr lang="fr-FR" sz="1800" b="1">
                <a:solidFill>
                  <a:srgbClr val="000000"/>
                </a:solidFill>
                <a:latin typeface="Arial" panose="020B0604020202020204" pitchFamily="34" charset="0"/>
              </a:rPr>
              <a:t>Pembuatan Session dan Cookies pada Jav</a:t>
            </a:r>
            <a:endParaRPr lang="en-US"/>
          </a:p>
        </p:txBody>
      </p:sp>
      <p:sp>
        <p:nvSpPr>
          <p:cNvPr id="5" name="TextBox 4">
            <a:extLst>
              <a:ext uri="{FF2B5EF4-FFF2-40B4-BE49-F238E27FC236}">
                <a16:creationId xmlns:a16="http://schemas.microsoft.com/office/drawing/2014/main" id="{394596AF-F8A7-432E-8653-DB214446DF43}"/>
              </a:ext>
            </a:extLst>
          </p:cNvPr>
          <p:cNvSpPr txBox="1"/>
          <p:nvPr/>
        </p:nvSpPr>
        <p:spPr>
          <a:xfrm>
            <a:off x="141668" y="838997"/>
            <a:ext cx="11771290" cy="1477328"/>
          </a:xfrm>
          <a:prstGeom prst="rect">
            <a:avLst/>
          </a:prstGeom>
          <a:noFill/>
        </p:spPr>
        <p:txBody>
          <a:bodyPr wrap="square">
            <a:spAutoFit/>
          </a:bodyPr>
          <a:lstStyle/>
          <a:p>
            <a:r>
              <a:rPr lang="en-US" sz="1800">
                <a:solidFill>
                  <a:srgbClr val="000000"/>
                </a:solidFill>
                <a:latin typeface="Arial" panose="020B0604020202020204" pitchFamily="34" charset="0"/>
                <a:cs typeface="Arial" panose="020B0604020202020204" pitchFamily="34" charset="0"/>
              </a:rPr>
              <a:t>Session: </a:t>
            </a:r>
          </a:p>
          <a:p>
            <a:r>
              <a:rPr lang="fr-FR" sz="1800">
                <a:solidFill>
                  <a:srgbClr val="000000"/>
                </a:solidFill>
                <a:latin typeface="Arial" panose="020B0604020202020204" pitchFamily="34" charset="0"/>
                <a:cs typeface="Arial" panose="020B0604020202020204" pitchFamily="34" charset="0"/>
              </a:rPr>
              <a:t>• Session merupakan instance (objek) dari kelas</a:t>
            </a:r>
          </a:p>
          <a:p>
            <a:r>
              <a:rPr lang="en-US" sz="1800" b="1">
                <a:solidFill>
                  <a:srgbClr val="000000"/>
                </a:solidFill>
                <a:latin typeface="Arial" panose="020B0604020202020204" pitchFamily="34" charset="0"/>
                <a:cs typeface="Arial" panose="020B0604020202020204" pitchFamily="34" charset="0"/>
              </a:rPr>
              <a:t>javax.servlet.http.HttpSession </a:t>
            </a:r>
          </a:p>
          <a:p>
            <a:r>
              <a:rPr lang="en-US" sz="1800">
                <a:solidFill>
                  <a:srgbClr val="000000"/>
                </a:solidFill>
                <a:latin typeface="Arial" panose="020B0604020202020204" pitchFamily="34" charset="0"/>
                <a:cs typeface="Arial" panose="020B0604020202020204" pitchFamily="34" charset="0"/>
              </a:rPr>
              <a:t>• Beberapa method yang digunakan:</a:t>
            </a:r>
          </a:p>
          <a:p>
            <a:r>
              <a:rPr lang="en-US" sz="1800">
                <a:solidFill>
                  <a:srgbClr val="000000"/>
                </a:solidFill>
                <a:latin typeface="Arial" panose="020B0604020202020204" pitchFamily="34" charset="0"/>
                <a:cs typeface="Arial" panose="020B0604020202020204" pitchFamily="34" charset="0"/>
              </a:rPr>
              <a:t> Mengaktifkan session baru adalah </a:t>
            </a:r>
            <a:r>
              <a:rPr lang="en-US" sz="1800" b="1">
                <a:solidFill>
                  <a:srgbClr val="000000"/>
                </a:solidFill>
                <a:latin typeface="Arial" panose="020B0604020202020204" pitchFamily="34" charset="0"/>
                <a:cs typeface="Arial" panose="020B0604020202020204" pitchFamily="34" charset="0"/>
              </a:rPr>
              <a:t>getSession() </a:t>
            </a:r>
            <a:endParaRPr lang="en-US">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B35C990D-962D-4F68-9DA5-885FE16AA000}"/>
              </a:ext>
            </a:extLst>
          </p:cNvPr>
          <p:cNvSpPr txBox="1"/>
          <p:nvPr/>
        </p:nvSpPr>
        <p:spPr>
          <a:xfrm>
            <a:off x="5894232" y="838997"/>
            <a:ext cx="6156100" cy="4708981"/>
          </a:xfrm>
          <a:prstGeom prst="rect">
            <a:avLst/>
          </a:prstGeom>
          <a:noFill/>
        </p:spPr>
        <p:txBody>
          <a:bodyPr wrap="square">
            <a:spAutoFit/>
          </a:bodyPr>
          <a:lstStyle/>
          <a:p>
            <a:r>
              <a:rPr lang="nn-NO" sz="1800">
                <a:solidFill>
                  <a:srgbClr val="000000"/>
                </a:solidFill>
                <a:latin typeface="Arial" panose="020B0604020202020204" pitchFamily="34" charset="0"/>
                <a:cs typeface="Arial" panose="020B0604020202020204" pitchFamily="34" charset="0"/>
              </a:rPr>
              <a:t>Untuk JSP method ini tidak perlu dipanggil secara ekplisit, karena</a:t>
            </a:r>
          </a:p>
          <a:p>
            <a:r>
              <a:rPr lang="en-US" sz="1800">
                <a:solidFill>
                  <a:srgbClr val="000000"/>
                </a:solidFill>
                <a:latin typeface="Arial" panose="020B0604020202020204" pitchFamily="34" charset="0"/>
                <a:cs typeface="Arial" panose="020B0604020202020204" pitchFamily="34" charset="0"/>
              </a:rPr>
              <a:t>sudah dipanggil secara implisit. </a:t>
            </a:r>
          </a:p>
          <a:p>
            <a:r>
              <a:rPr lang="en-GB" sz="1800">
                <a:solidFill>
                  <a:srgbClr val="000000"/>
                </a:solidFill>
                <a:latin typeface="Arial" panose="020B0604020202020204" pitchFamily="34" charset="0"/>
                <a:cs typeface="Arial" panose="020B0604020202020204" pitchFamily="34" charset="0"/>
              </a:rPr>
              <a:t> Menyimpan data ke dalam session:</a:t>
            </a:r>
          </a:p>
          <a:p>
            <a:r>
              <a:rPr lang="en-US" sz="1800">
                <a:solidFill>
                  <a:srgbClr val="000000"/>
                </a:solidFill>
                <a:latin typeface="Arial" panose="020B0604020202020204" pitchFamily="34" charset="0"/>
                <a:cs typeface="Arial" panose="020B0604020202020204" pitchFamily="34" charset="0"/>
              </a:rPr>
              <a:t>Sintaks: </a:t>
            </a:r>
          </a:p>
          <a:p>
            <a:r>
              <a:rPr lang="en-GB" sz="1800">
                <a:solidFill>
                  <a:srgbClr val="000000"/>
                </a:solidFill>
                <a:latin typeface="Arial" panose="020B0604020202020204" pitchFamily="34" charset="0"/>
                <a:cs typeface="Arial" panose="020B0604020202020204" pitchFamily="34" charset="0"/>
              </a:rPr>
              <a:t>session</a:t>
            </a:r>
            <a:r>
              <a:rPr lang="en-GB" sz="1800" b="1">
                <a:solidFill>
                  <a:srgbClr val="000000"/>
                </a:solidFill>
                <a:latin typeface="Arial" panose="020B0604020202020204" pitchFamily="34" charset="0"/>
                <a:cs typeface="Arial" panose="020B0604020202020204" pitchFamily="34" charset="0"/>
              </a:rPr>
              <a:t>.setAttribute(String id, Object value); </a:t>
            </a:r>
          </a:p>
          <a:p>
            <a:r>
              <a:rPr lang="en-US" sz="1800">
                <a:solidFill>
                  <a:srgbClr val="000000"/>
                </a:solidFill>
                <a:latin typeface="Arial" panose="020B0604020202020204" pitchFamily="34" charset="0"/>
                <a:cs typeface="Arial" panose="020B0604020202020204" pitchFamily="34" charset="0"/>
              </a:rPr>
              <a:t>Contoh:  </a:t>
            </a:r>
          </a:p>
          <a:p>
            <a:r>
              <a:rPr lang="en-US" sz="1200">
                <a:solidFill>
                  <a:srgbClr val="000000"/>
                </a:solidFill>
                <a:latin typeface="Arial" panose="020B0604020202020204" pitchFamily="34" charset="0"/>
                <a:cs typeface="Arial" panose="020B0604020202020204" pitchFamily="34" charset="0"/>
              </a:rPr>
              <a:t>session.setAttribute("userLogin", "Administrator"); </a:t>
            </a:r>
          </a:p>
          <a:p>
            <a:r>
              <a:rPr lang="en-US" sz="1800">
                <a:solidFill>
                  <a:srgbClr val="000000"/>
                </a:solidFill>
                <a:latin typeface="Arial" panose="020B0604020202020204" pitchFamily="34" charset="0"/>
                <a:cs typeface="Arial" panose="020B0604020202020204" pitchFamily="34" charset="0"/>
              </a:rPr>
              <a:t> menentukan masa berlakunya session (satuan detik) </a:t>
            </a:r>
          </a:p>
          <a:p>
            <a:r>
              <a:rPr lang="en-US" sz="1800">
                <a:solidFill>
                  <a:srgbClr val="000000"/>
                </a:solidFill>
                <a:latin typeface="Arial" panose="020B0604020202020204" pitchFamily="34" charset="0"/>
                <a:cs typeface="Arial" panose="020B0604020202020204" pitchFamily="34" charset="0"/>
              </a:rPr>
              <a:t>Sintaks:</a:t>
            </a:r>
          </a:p>
          <a:p>
            <a:r>
              <a:rPr lang="en-US" sz="1800">
                <a:solidFill>
                  <a:srgbClr val="000000"/>
                </a:solidFill>
                <a:latin typeface="Arial" panose="020B0604020202020204" pitchFamily="34" charset="0"/>
                <a:cs typeface="Arial" panose="020B0604020202020204" pitchFamily="34" charset="0"/>
              </a:rPr>
              <a:t>session.</a:t>
            </a:r>
            <a:r>
              <a:rPr lang="en-US" sz="1800" b="1">
                <a:solidFill>
                  <a:srgbClr val="000000"/>
                </a:solidFill>
                <a:latin typeface="Arial" panose="020B0604020202020204" pitchFamily="34" charset="0"/>
                <a:cs typeface="Arial" panose="020B0604020202020204" pitchFamily="34" charset="0"/>
              </a:rPr>
              <a:t>setMaxInactiveInterval(int durasi); </a:t>
            </a:r>
          </a:p>
          <a:p>
            <a:r>
              <a:rPr lang="en-US" sz="1800">
                <a:solidFill>
                  <a:srgbClr val="000000"/>
                </a:solidFill>
                <a:latin typeface="Arial" panose="020B0604020202020204" pitchFamily="34" charset="0"/>
                <a:cs typeface="Arial" panose="020B0604020202020204" pitchFamily="34" charset="0"/>
              </a:rPr>
              <a:t>Contoh:  </a:t>
            </a:r>
          </a:p>
          <a:p>
            <a:r>
              <a:rPr lang="en-US" sz="1600">
                <a:solidFill>
                  <a:srgbClr val="000000"/>
                </a:solidFill>
                <a:latin typeface="Arial" panose="020B0604020202020204" pitchFamily="34" charset="0"/>
                <a:cs typeface="Arial" panose="020B0604020202020204" pitchFamily="34" charset="0"/>
              </a:rPr>
              <a:t>session.setMaxInactiveInterval(60*60*24);</a:t>
            </a:r>
            <a:r>
              <a:rPr lang="en-US" sz="1800">
                <a:solidFill>
                  <a:srgbClr val="000000"/>
                </a:solidFill>
                <a:latin typeface="Arial" panose="020B0604020202020204" pitchFamily="34" charset="0"/>
                <a:cs typeface="Arial" panose="020B0604020202020204" pitchFamily="34" charset="0"/>
              </a:rPr>
              <a:t> //umur</a:t>
            </a:r>
          </a:p>
          <a:p>
            <a:r>
              <a:rPr lang="en-US" sz="1800">
                <a:solidFill>
                  <a:srgbClr val="000000"/>
                </a:solidFill>
                <a:latin typeface="Arial" panose="020B0604020202020204" pitchFamily="34" charset="0"/>
                <a:cs typeface="Arial" panose="020B0604020202020204" pitchFamily="34" charset="0"/>
              </a:rPr>
              <a:t>session 1 hari </a:t>
            </a:r>
          </a:p>
          <a:p>
            <a:r>
              <a:rPr lang="sv-SE" sz="1800">
                <a:solidFill>
                  <a:srgbClr val="000000"/>
                </a:solidFill>
                <a:latin typeface="Arial" panose="020B0604020202020204" pitchFamily="34" charset="0"/>
                <a:cs typeface="Arial" panose="020B0604020202020204" pitchFamily="34" charset="0"/>
              </a:rPr>
              <a:t>Jika tidak melakukan request ke server selama nilai durasi, maka</a:t>
            </a:r>
          </a:p>
          <a:p>
            <a:r>
              <a:rPr lang="fr-FR" sz="1800">
                <a:solidFill>
                  <a:srgbClr val="000000"/>
                </a:solidFill>
                <a:latin typeface="Arial" panose="020B0604020202020204" pitchFamily="34" charset="0"/>
                <a:cs typeface="Arial" panose="020B0604020202020204" pitchFamily="34" charset="0"/>
              </a:rPr>
              <a:t>session diakhiri (nilai yang sudah diset dihapus) </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4671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29CA8F-A371-471E-8BF0-9E99177BB4F4}"/>
              </a:ext>
            </a:extLst>
          </p:cNvPr>
          <p:cNvSpPr txBox="1"/>
          <p:nvPr/>
        </p:nvSpPr>
        <p:spPr>
          <a:xfrm>
            <a:off x="334851" y="233897"/>
            <a:ext cx="6156100" cy="369332"/>
          </a:xfrm>
          <a:prstGeom prst="rect">
            <a:avLst/>
          </a:prstGeom>
          <a:noFill/>
        </p:spPr>
        <p:txBody>
          <a:bodyPr wrap="square">
            <a:spAutoFit/>
          </a:bodyPr>
          <a:lstStyle/>
          <a:p>
            <a:r>
              <a:rPr lang="en-US" sz="1800">
                <a:solidFill>
                  <a:srgbClr val="000000"/>
                </a:solidFill>
                <a:latin typeface="Times New Roman" panose="02020603050405020304" pitchFamily="18" charset="0"/>
              </a:rPr>
              <a:t>Cookies: </a:t>
            </a:r>
            <a:endParaRPr lang="en-US"/>
          </a:p>
        </p:txBody>
      </p:sp>
      <p:sp>
        <p:nvSpPr>
          <p:cNvPr id="5" name="TextBox 4">
            <a:extLst>
              <a:ext uri="{FF2B5EF4-FFF2-40B4-BE49-F238E27FC236}">
                <a16:creationId xmlns:a16="http://schemas.microsoft.com/office/drawing/2014/main" id="{875EE8BE-69F3-473C-9E9F-FF8543AF5589}"/>
              </a:ext>
            </a:extLst>
          </p:cNvPr>
          <p:cNvSpPr txBox="1"/>
          <p:nvPr/>
        </p:nvSpPr>
        <p:spPr>
          <a:xfrm>
            <a:off x="579549" y="719139"/>
            <a:ext cx="9762186" cy="4370427"/>
          </a:xfrm>
          <a:prstGeom prst="rect">
            <a:avLst/>
          </a:prstGeom>
          <a:noFill/>
        </p:spPr>
        <p:txBody>
          <a:bodyPr wrap="square">
            <a:spAutoFit/>
          </a:bodyPr>
          <a:lstStyle/>
          <a:p>
            <a:r>
              <a:rPr lang="en-US" sz="1800">
                <a:solidFill>
                  <a:srgbClr val="000000"/>
                </a:solidFill>
                <a:latin typeface="Arial" panose="020B0604020202020204" pitchFamily="34" charset="0"/>
              </a:rPr>
              <a:t>• </a:t>
            </a:r>
            <a:r>
              <a:rPr lang="en-US" sz="1800">
                <a:solidFill>
                  <a:srgbClr val="000000"/>
                </a:solidFill>
                <a:latin typeface="Times New Roman" panose="02020603050405020304" pitchFamily="18" charset="0"/>
              </a:rPr>
              <a:t>cookie merupakan instance (objek) dari kelas </a:t>
            </a:r>
            <a:r>
              <a:rPr lang="en-US" sz="1800" b="1">
                <a:solidFill>
                  <a:srgbClr val="000000"/>
                </a:solidFill>
                <a:latin typeface="Arial" panose="020B0604020202020204" pitchFamily="34" charset="0"/>
              </a:rPr>
              <a:t>javax.servlet.http.Cookie</a:t>
            </a:r>
            <a:r>
              <a:rPr lang="en-US" sz="1800" b="1">
                <a:solidFill>
                  <a:srgbClr val="000000"/>
                </a:solidFill>
                <a:latin typeface="Times New Roman" panose="02020603050405020304" pitchFamily="18" charset="0"/>
              </a:rPr>
              <a:t> </a:t>
            </a:r>
          </a:p>
          <a:p>
            <a:r>
              <a:rPr lang="de-DE" sz="1800">
                <a:solidFill>
                  <a:srgbClr val="000000"/>
                </a:solidFill>
                <a:latin typeface="Arial" panose="020B0604020202020204" pitchFamily="34" charset="0"/>
              </a:rPr>
              <a:t>• </a:t>
            </a:r>
            <a:r>
              <a:rPr lang="de-DE" sz="1800">
                <a:solidFill>
                  <a:srgbClr val="000000"/>
                </a:solidFill>
                <a:latin typeface="Times New Roman" panose="02020603050405020304" pitchFamily="18" charset="0"/>
              </a:rPr>
              <a:t>beberapa konstruktor dan method yang digunakan: </a:t>
            </a:r>
          </a:p>
          <a:p>
            <a:r>
              <a:rPr lang="en-US" sz="1800">
                <a:solidFill>
                  <a:srgbClr val="000000"/>
                </a:solidFill>
                <a:latin typeface="Arial" panose="020B0604020202020204" pitchFamily="34" charset="0"/>
              </a:rPr>
              <a:t> </a:t>
            </a:r>
            <a:r>
              <a:rPr lang="en-US" sz="1800">
                <a:solidFill>
                  <a:srgbClr val="000000"/>
                </a:solidFill>
                <a:latin typeface="Times New Roman" panose="02020603050405020304" pitchFamily="18" charset="0"/>
              </a:rPr>
              <a:t>membuat instance (objek) Cookie, menggunakan konstruktor</a:t>
            </a:r>
          </a:p>
          <a:p>
            <a:r>
              <a:rPr lang="en-US" sz="1800" b="1">
                <a:solidFill>
                  <a:srgbClr val="000000"/>
                </a:solidFill>
                <a:latin typeface="Arial" panose="020B0604020202020204" pitchFamily="34" charset="0"/>
              </a:rPr>
              <a:t>Cookie()</a:t>
            </a:r>
            <a:r>
              <a:rPr lang="en-US" sz="1800" b="1">
                <a:solidFill>
                  <a:srgbClr val="000000"/>
                </a:solidFill>
                <a:latin typeface="Times New Roman" panose="02020603050405020304" pitchFamily="18" charset="0"/>
              </a:rPr>
              <a:t> </a:t>
            </a:r>
          </a:p>
          <a:p>
            <a:r>
              <a:rPr lang="en-GB" sz="1800">
                <a:solidFill>
                  <a:srgbClr val="000000"/>
                </a:solidFill>
                <a:latin typeface="Times New Roman" panose="02020603050405020304" pitchFamily="18" charset="0"/>
              </a:rPr>
              <a:t>Cookies (String id, String value) </a:t>
            </a:r>
          </a:p>
          <a:p>
            <a:r>
              <a:rPr lang="en-US" sz="1600">
                <a:solidFill>
                  <a:srgbClr val="000000"/>
                </a:solidFill>
                <a:latin typeface="Courier New" panose="02070309020205020404" pitchFamily="49" charset="0"/>
              </a:rPr>
              <a:t>Contoh: </a:t>
            </a:r>
          </a:p>
          <a:p>
            <a:r>
              <a:rPr lang="en-GB" sz="1600">
                <a:solidFill>
                  <a:srgbClr val="000000"/>
                </a:solidFill>
                <a:latin typeface="Courier New" panose="02070309020205020404" pitchFamily="49" charset="0"/>
              </a:rPr>
              <a:t>Cookie nmId = new Cookie (“user”, username); </a:t>
            </a:r>
          </a:p>
          <a:p>
            <a:r>
              <a:rPr lang="en-US" sz="1800">
                <a:solidFill>
                  <a:srgbClr val="000000"/>
                </a:solidFill>
                <a:latin typeface="Arial" panose="020B0604020202020204" pitchFamily="34" charset="0"/>
              </a:rPr>
              <a:t> </a:t>
            </a:r>
            <a:r>
              <a:rPr lang="en-US" sz="1800">
                <a:solidFill>
                  <a:srgbClr val="000000"/>
                </a:solidFill>
                <a:latin typeface="Times New Roman" panose="02020603050405020304" pitchFamily="18" charset="0"/>
              </a:rPr>
              <a:t>menentukan masa berlakunya cookie (satuan detik), menggunakan</a:t>
            </a:r>
          </a:p>
          <a:p>
            <a:r>
              <a:rPr lang="en-US" sz="1800">
                <a:solidFill>
                  <a:srgbClr val="000000"/>
                </a:solidFill>
                <a:latin typeface="Times New Roman" panose="02020603050405020304" pitchFamily="18" charset="0"/>
              </a:rPr>
              <a:t>method </a:t>
            </a:r>
            <a:r>
              <a:rPr lang="en-US" sz="1800" b="1">
                <a:solidFill>
                  <a:srgbClr val="000000"/>
                </a:solidFill>
                <a:latin typeface="Arial" panose="020B0604020202020204" pitchFamily="34" charset="0"/>
              </a:rPr>
              <a:t>setMaxAge()</a:t>
            </a:r>
            <a:r>
              <a:rPr lang="en-US" sz="1800" b="1">
                <a:solidFill>
                  <a:srgbClr val="000000"/>
                </a:solidFill>
                <a:latin typeface="Times New Roman" panose="02020603050405020304" pitchFamily="18" charset="0"/>
              </a:rPr>
              <a:t> </a:t>
            </a:r>
          </a:p>
          <a:p>
            <a:r>
              <a:rPr lang="en-US" sz="1800">
                <a:solidFill>
                  <a:srgbClr val="000000"/>
                </a:solidFill>
                <a:latin typeface="Times New Roman" panose="02020603050405020304" pitchFamily="18" charset="0"/>
              </a:rPr>
              <a:t>nmcookie.setMaxAge(durasi);</a:t>
            </a:r>
          </a:p>
          <a:p>
            <a:r>
              <a:rPr lang="en-US" sz="1800">
                <a:solidFill>
                  <a:srgbClr val="000000"/>
                </a:solidFill>
                <a:latin typeface="Times New Roman" panose="02020603050405020304" pitchFamily="18" charset="0"/>
              </a:rPr>
              <a:t>contoh: </a:t>
            </a:r>
          </a:p>
          <a:p>
            <a:r>
              <a:rPr lang="en-US" sz="1600">
                <a:solidFill>
                  <a:srgbClr val="000000"/>
                </a:solidFill>
                <a:latin typeface="Courier New" panose="02070309020205020404" pitchFamily="49" charset="0"/>
              </a:rPr>
              <a:t>cookie.setMaxAge(15);</a:t>
            </a:r>
          </a:p>
          <a:p>
            <a:r>
              <a:rPr lang="en-US" sz="1600">
                <a:solidFill>
                  <a:srgbClr val="000000"/>
                </a:solidFill>
                <a:latin typeface="Courier New" panose="02070309020205020404" pitchFamily="49" charset="0"/>
              </a:rPr>
              <a:t>nmId.setMaxAge(60*60*24); </a:t>
            </a:r>
            <a:r>
              <a:rPr lang="en-US" sz="1600">
                <a:solidFill>
                  <a:srgbClr val="000000"/>
                </a:solidFill>
                <a:latin typeface="Times New Roman" panose="02020603050405020304" pitchFamily="18" charset="0"/>
              </a:rPr>
              <a:t>// cookie diset berumur 1 hari</a:t>
            </a:r>
            <a:r>
              <a:rPr lang="en-US" sz="1600">
                <a:solidFill>
                  <a:srgbClr val="000000"/>
                </a:solidFill>
                <a:latin typeface="Courier New" panose="02070309020205020404" pitchFamily="49" charset="0"/>
              </a:rPr>
              <a:t> </a:t>
            </a:r>
          </a:p>
          <a:p>
            <a:r>
              <a:rPr lang="en-US" sz="1600">
                <a:solidFill>
                  <a:srgbClr val="000000"/>
                </a:solidFill>
                <a:latin typeface="Courier New" panose="02070309020205020404" pitchFamily="49" charset="0"/>
              </a:rPr>
              <a:t> </a:t>
            </a:r>
          </a:p>
          <a:p>
            <a:r>
              <a:rPr lang="en-US" sz="1800">
                <a:solidFill>
                  <a:srgbClr val="000000"/>
                </a:solidFill>
                <a:latin typeface="Arial" panose="020B0604020202020204" pitchFamily="34" charset="0"/>
              </a:rPr>
              <a:t> </a:t>
            </a:r>
            <a:r>
              <a:rPr lang="en-US" sz="1800">
                <a:solidFill>
                  <a:srgbClr val="000000"/>
                </a:solidFill>
                <a:latin typeface="Times New Roman" panose="02020603050405020304" pitchFamily="18" charset="0"/>
              </a:rPr>
              <a:t>menambahkan </a:t>
            </a:r>
            <a:r>
              <a:rPr lang="en-US" sz="1800" i="1">
                <a:solidFill>
                  <a:srgbClr val="000000"/>
                </a:solidFill>
                <a:latin typeface="Arial" panose="020B0604020202020204" pitchFamily="34" charset="0"/>
              </a:rPr>
              <a:t>cookie</a:t>
            </a:r>
            <a:r>
              <a:rPr lang="en-US" sz="1800" i="1">
                <a:solidFill>
                  <a:srgbClr val="000000"/>
                </a:solidFill>
                <a:latin typeface="Times New Roman" panose="02020603050405020304" pitchFamily="18" charset="0"/>
              </a:rPr>
              <a:t> ke </a:t>
            </a:r>
            <a:r>
              <a:rPr lang="en-US" sz="1800" i="1">
                <a:solidFill>
                  <a:srgbClr val="000000"/>
                </a:solidFill>
                <a:latin typeface="Arial" panose="020B0604020202020204" pitchFamily="34" charset="0"/>
              </a:rPr>
              <a:t>response</a:t>
            </a:r>
            <a:r>
              <a:rPr lang="en-US" sz="1800" i="1">
                <a:solidFill>
                  <a:srgbClr val="000000"/>
                </a:solidFill>
                <a:latin typeface="Times New Roman" panose="02020603050405020304" pitchFamily="18" charset="0"/>
              </a:rPr>
              <a:t>, digunakan metode </a:t>
            </a:r>
            <a:r>
              <a:rPr lang="en-US" sz="1800" b="1" i="1">
                <a:solidFill>
                  <a:srgbClr val="000000"/>
                </a:solidFill>
                <a:latin typeface="Arial" panose="020B0604020202020204" pitchFamily="34" charset="0"/>
              </a:rPr>
              <a:t>addCookie ()</a:t>
            </a:r>
          </a:p>
          <a:p>
            <a:r>
              <a:rPr lang="en-US" sz="1800">
                <a:solidFill>
                  <a:srgbClr val="000000"/>
                </a:solidFill>
                <a:latin typeface="Times New Roman" panose="02020603050405020304" pitchFamily="18" charset="0"/>
              </a:rPr>
              <a:t>response.addCookie(Cookie cookie); </a:t>
            </a:r>
            <a:endParaRPr lang="en-US"/>
          </a:p>
        </p:txBody>
      </p:sp>
      <p:sp>
        <p:nvSpPr>
          <p:cNvPr id="7" name="TextBox 6">
            <a:extLst>
              <a:ext uri="{FF2B5EF4-FFF2-40B4-BE49-F238E27FC236}">
                <a16:creationId xmlns:a16="http://schemas.microsoft.com/office/drawing/2014/main" id="{3A6FAABC-3967-4620-9863-CAB8F980F42D}"/>
              </a:ext>
            </a:extLst>
          </p:cNvPr>
          <p:cNvSpPr txBox="1"/>
          <p:nvPr/>
        </p:nvSpPr>
        <p:spPr>
          <a:xfrm>
            <a:off x="3962402" y="5312688"/>
            <a:ext cx="6156100" cy="677108"/>
          </a:xfrm>
          <a:prstGeom prst="rect">
            <a:avLst/>
          </a:prstGeom>
          <a:noFill/>
        </p:spPr>
        <p:txBody>
          <a:bodyPr wrap="square">
            <a:spAutoFit/>
          </a:bodyPr>
          <a:lstStyle/>
          <a:p>
            <a:r>
              <a:rPr lang="en-US" sz="2000">
                <a:solidFill>
                  <a:srgbClr val="000000"/>
                </a:solidFill>
                <a:latin typeface="Times New Roman" panose="02020603050405020304" pitchFamily="18" charset="0"/>
              </a:rPr>
              <a:t>contoh: </a:t>
            </a:r>
          </a:p>
          <a:p>
            <a:r>
              <a:rPr lang="en-US" sz="1800">
                <a:solidFill>
                  <a:srgbClr val="000000"/>
                </a:solidFill>
                <a:latin typeface="Courier New" panose="02070309020205020404" pitchFamily="49" charset="0"/>
              </a:rPr>
              <a:t>response.addCookie(nmId); </a:t>
            </a:r>
            <a:endParaRPr lang="en-US"/>
          </a:p>
        </p:txBody>
      </p:sp>
    </p:spTree>
    <p:extLst>
      <p:ext uri="{BB962C8B-B14F-4D97-AF65-F5344CB8AC3E}">
        <p14:creationId xmlns:p14="http://schemas.microsoft.com/office/powerpoint/2010/main" val="2991780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423DD0-0653-4535-B283-1E83BAF7B34B}"/>
              </a:ext>
            </a:extLst>
          </p:cNvPr>
          <p:cNvSpPr txBox="1"/>
          <p:nvPr/>
        </p:nvSpPr>
        <p:spPr>
          <a:xfrm>
            <a:off x="242552" y="500772"/>
            <a:ext cx="11706895" cy="1477328"/>
          </a:xfrm>
          <a:prstGeom prst="rect">
            <a:avLst/>
          </a:prstGeom>
          <a:noFill/>
        </p:spPr>
        <p:txBody>
          <a:bodyPr wrap="square">
            <a:spAutoFit/>
          </a:bodyPr>
          <a:lstStyle/>
          <a:p>
            <a:r>
              <a:rPr lang="en-US" sz="1800">
                <a:solidFill>
                  <a:srgbClr val="000000"/>
                </a:solidFill>
                <a:latin typeface="Arial" panose="020B0604020202020204" pitchFamily="34" charset="0"/>
                <a:cs typeface="Arial" panose="020B0604020202020204" pitchFamily="34" charset="0"/>
              </a:rPr>
              <a:t>Latihan pembuatan: </a:t>
            </a:r>
          </a:p>
          <a:p>
            <a:r>
              <a:rPr lang="en-US" sz="1800">
                <a:solidFill>
                  <a:srgbClr val="000000"/>
                </a:solidFill>
                <a:latin typeface="Arial" panose="020B0604020202020204" pitchFamily="34" charset="0"/>
                <a:cs typeface="Arial" panose="020B0604020202020204" pitchFamily="34" charset="0"/>
              </a:rPr>
              <a:t> </a:t>
            </a:r>
          </a:p>
          <a:p>
            <a:r>
              <a:rPr lang="en-US" sz="1800">
                <a:solidFill>
                  <a:srgbClr val="000000"/>
                </a:solidFill>
                <a:latin typeface="Arial" panose="020B0604020202020204" pitchFamily="34" charset="0"/>
                <a:cs typeface="Arial" panose="020B0604020202020204" pitchFamily="34" charset="0"/>
              </a:rPr>
              <a:t>Buat projek baru</a:t>
            </a:r>
          </a:p>
          <a:p>
            <a:r>
              <a:rPr lang="en-US" sz="1800">
                <a:solidFill>
                  <a:srgbClr val="000000"/>
                </a:solidFill>
                <a:latin typeface="Arial" panose="020B0604020202020204" pitchFamily="34" charset="0"/>
                <a:cs typeface="Arial" panose="020B0604020202020204" pitchFamily="34" charset="0"/>
              </a:rPr>
              <a:t>Tambahkan file JSP dengan nama index (nama file yang ada dihapus terlebih dahulu)</a:t>
            </a:r>
          </a:p>
          <a:p>
            <a:r>
              <a:rPr lang="it-IT" sz="1800">
                <a:solidFill>
                  <a:srgbClr val="000000"/>
                </a:solidFill>
                <a:latin typeface="Arial" panose="020B0604020202020204" pitchFamily="34" charset="0"/>
                <a:cs typeface="Arial" panose="020B0604020202020204" pitchFamily="34" charset="0"/>
              </a:rPr>
              <a:t>Ubah source code menjadi seperti di bawah ini </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0724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A25EBB-F3B4-4C89-BCA0-A5FA182C6A7B}"/>
              </a:ext>
            </a:extLst>
          </p:cNvPr>
          <p:cNvPicPr>
            <a:picLocks noChangeAspect="1"/>
          </p:cNvPicPr>
          <p:nvPr/>
        </p:nvPicPr>
        <p:blipFill>
          <a:blip r:embed="rId2"/>
          <a:stretch>
            <a:fillRect/>
          </a:stretch>
        </p:blipFill>
        <p:spPr>
          <a:xfrm>
            <a:off x="1897535" y="702735"/>
            <a:ext cx="7542678" cy="4879867"/>
          </a:xfrm>
          <a:prstGeom prst="rect">
            <a:avLst/>
          </a:prstGeom>
        </p:spPr>
      </p:pic>
      <p:sp>
        <p:nvSpPr>
          <p:cNvPr id="4" name="Oval 3">
            <a:extLst>
              <a:ext uri="{FF2B5EF4-FFF2-40B4-BE49-F238E27FC236}">
                <a16:creationId xmlns:a16="http://schemas.microsoft.com/office/drawing/2014/main" id="{824FF9EF-8224-4FF1-8BF7-027BAF4170C6}"/>
              </a:ext>
            </a:extLst>
          </p:cNvPr>
          <p:cNvSpPr/>
          <p:nvPr/>
        </p:nvSpPr>
        <p:spPr>
          <a:xfrm>
            <a:off x="772732" y="1197735"/>
            <a:ext cx="412124" cy="4121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Tree>
    <p:extLst>
      <p:ext uri="{BB962C8B-B14F-4D97-AF65-F5344CB8AC3E}">
        <p14:creationId xmlns:p14="http://schemas.microsoft.com/office/powerpoint/2010/main" val="3426198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223726-6CBB-41C4-8E35-5C9F015652AA}"/>
              </a:ext>
            </a:extLst>
          </p:cNvPr>
          <p:cNvPicPr>
            <a:picLocks noChangeAspect="1"/>
          </p:cNvPicPr>
          <p:nvPr/>
        </p:nvPicPr>
        <p:blipFill>
          <a:blip r:embed="rId2"/>
          <a:stretch>
            <a:fillRect/>
          </a:stretch>
        </p:blipFill>
        <p:spPr>
          <a:xfrm>
            <a:off x="2055645" y="466848"/>
            <a:ext cx="7371690" cy="5182447"/>
          </a:xfrm>
          <a:prstGeom prst="rect">
            <a:avLst/>
          </a:prstGeom>
        </p:spPr>
      </p:pic>
      <p:sp>
        <p:nvSpPr>
          <p:cNvPr id="4" name="Oval 3">
            <a:extLst>
              <a:ext uri="{FF2B5EF4-FFF2-40B4-BE49-F238E27FC236}">
                <a16:creationId xmlns:a16="http://schemas.microsoft.com/office/drawing/2014/main" id="{D5E8EE89-AF16-4B2C-96BD-D6FE8C034CA5}"/>
              </a:ext>
            </a:extLst>
          </p:cNvPr>
          <p:cNvSpPr/>
          <p:nvPr/>
        </p:nvSpPr>
        <p:spPr>
          <a:xfrm>
            <a:off x="1455313" y="466848"/>
            <a:ext cx="412124" cy="4121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Tree>
    <p:extLst>
      <p:ext uri="{BB962C8B-B14F-4D97-AF65-F5344CB8AC3E}">
        <p14:creationId xmlns:p14="http://schemas.microsoft.com/office/powerpoint/2010/main" val="1719254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7CC961-71AD-4CE8-B084-03549789E760}"/>
              </a:ext>
            </a:extLst>
          </p:cNvPr>
          <p:cNvPicPr>
            <a:picLocks noChangeAspect="1"/>
          </p:cNvPicPr>
          <p:nvPr/>
        </p:nvPicPr>
        <p:blipFill>
          <a:blip r:embed="rId2"/>
          <a:stretch>
            <a:fillRect/>
          </a:stretch>
        </p:blipFill>
        <p:spPr>
          <a:xfrm>
            <a:off x="1415915" y="1094903"/>
            <a:ext cx="9081442" cy="4172555"/>
          </a:xfrm>
          <a:prstGeom prst="rect">
            <a:avLst/>
          </a:prstGeom>
        </p:spPr>
      </p:pic>
      <p:sp>
        <p:nvSpPr>
          <p:cNvPr id="4" name="Oval 3">
            <a:extLst>
              <a:ext uri="{FF2B5EF4-FFF2-40B4-BE49-F238E27FC236}">
                <a16:creationId xmlns:a16="http://schemas.microsoft.com/office/drawing/2014/main" id="{4B723716-8A63-4602-96B6-74178CACBF97}"/>
              </a:ext>
            </a:extLst>
          </p:cNvPr>
          <p:cNvSpPr/>
          <p:nvPr/>
        </p:nvSpPr>
        <p:spPr>
          <a:xfrm>
            <a:off x="1455313" y="466848"/>
            <a:ext cx="412124" cy="4121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Tree>
    <p:extLst>
      <p:ext uri="{BB962C8B-B14F-4D97-AF65-F5344CB8AC3E}">
        <p14:creationId xmlns:p14="http://schemas.microsoft.com/office/powerpoint/2010/main" val="968565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E244A9-DA35-4482-8A8B-201E1E08EFF2}"/>
              </a:ext>
            </a:extLst>
          </p:cNvPr>
          <p:cNvSpPr txBox="1"/>
          <p:nvPr/>
        </p:nvSpPr>
        <p:spPr>
          <a:xfrm>
            <a:off x="193183" y="185550"/>
            <a:ext cx="6156100" cy="646331"/>
          </a:xfrm>
          <a:prstGeom prst="rect">
            <a:avLst/>
          </a:prstGeom>
          <a:noFill/>
        </p:spPr>
        <p:txBody>
          <a:bodyPr wrap="square">
            <a:spAutoFit/>
          </a:bodyPr>
          <a:lstStyle/>
          <a:p>
            <a:r>
              <a:rPr lang="en-US" sz="1800">
                <a:solidFill>
                  <a:srgbClr val="000000"/>
                </a:solidFill>
                <a:latin typeface="Arial" panose="020B0604020202020204" pitchFamily="34" charset="0"/>
              </a:rPr>
              <a:t> </a:t>
            </a:r>
            <a:r>
              <a:rPr lang="en-US" sz="1800">
                <a:solidFill>
                  <a:srgbClr val="000000"/>
                </a:solidFill>
                <a:latin typeface="Times New Roman" panose="02020603050405020304" pitchFamily="18" charset="0"/>
              </a:rPr>
              <a:t>Tambahkan file JSP dan beri nama Validasi </a:t>
            </a:r>
          </a:p>
          <a:p>
            <a:r>
              <a:rPr lang="it-IT" sz="1800">
                <a:solidFill>
                  <a:srgbClr val="000000"/>
                </a:solidFill>
                <a:latin typeface="Arial" panose="020B0604020202020204" pitchFamily="34" charset="0"/>
              </a:rPr>
              <a:t> </a:t>
            </a:r>
            <a:r>
              <a:rPr lang="it-IT" sz="1800">
                <a:solidFill>
                  <a:srgbClr val="000000"/>
                </a:solidFill>
                <a:latin typeface="Times New Roman" panose="02020603050405020304" pitchFamily="18" charset="0"/>
              </a:rPr>
              <a:t>Ubah source code menjadi seperti di bawah ini </a:t>
            </a:r>
            <a:endParaRPr lang="en-US"/>
          </a:p>
        </p:txBody>
      </p:sp>
      <p:pic>
        <p:nvPicPr>
          <p:cNvPr id="5" name="Picture 4">
            <a:extLst>
              <a:ext uri="{FF2B5EF4-FFF2-40B4-BE49-F238E27FC236}">
                <a16:creationId xmlns:a16="http://schemas.microsoft.com/office/drawing/2014/main" id="{B9BD7BC5-0E35-43F9-B077-FA6A3D122466}"/>
              </a:ext>
            </a:extLst>
          </p:cNvPr>
          <p:cNvPicPr>
            <a:picLocks noChangeAspect="1"/>
          </p:cNvPicPr>
          <p:nvPr/>
        </p:nvPicPr>
        <p:blipFill>
          <a:blip r:embed="rId2"/>
          <a:stretch>
            <a:fillRect/>
          </a:stretch>
        </p:blipFill>
        <p:spPr>
          <a:xfrm>
            <a:off x="454574" y="1010889"/>
            <a:ext cx="7878057" cy="4132564"/>
          </a:xfrm>
          <a:prstGeom prst="rect">
            <a:avLst/>
          </a:prstGeom>
        </p:spPr>
      </p:pic>
      <p:sp>
        <p:nvSpPr>
          <p:cNvPr id="6" name="Oval 5">
            <a:extLst>
              <a:ext uri="{FF2B5EF4-FFF2-40B4-BE49-F238E27FC236}">
                <a16:creationId xmlns:a16="http://schemas.microsoft.com/office/drawing/2014/main" id="{AC29734D-F552-4523-A2EE-2B33DA974A0D}"/>
              </a:ext>
            </a:extLst>
          </p:cNvPr>
          <p:cNvSpPr/>
          <p:nvPr/>
        </p:nvSpPr>
        <p:spPr>
          <a:xfrm>
            <a:off x="7920507" y="804827"/>
            <a:ext cx="412124" cy="4121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Tree>
    <p:extLst>
      <p:ext uri="{BB962C8B-B14F-4D97-AF65-F5344CB8AC3E}">
        <p14:creationId xmlns:p14="http://schemas.microsoft.com/office/powerpoint/2010/main" val="1058599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DEB9A5-292A-4DA3-8FE8-70ADEA802A56}"/>
              </a:ext>
            </a:extLst>
          </p:cNvPr>
          <p:cNvPicPr>
            <a:picLocks noChangeAspect="1"/>
          </p:cNvPicPr>
          <p:nvPr/>
        </p:nvPicPr>
        <p:blipFill>
          <a:blip r:embed="rId2"/>
          <a:stretch>
            <a:fillRect/>
          </a:stretch>
        </p:blipFill>
        <p:spPr>
          <a:xfrm>
            <a:off x="327856" y="261254"/>
            <a:ext cx="8571445" cy="5205017"/>
          </a:xfrm>
          <a:prstGeom prst="rect">
            <a:avLst/>
          </a:prstGeom>
        </p:spPr>
      </p:pic>
      <p:sp>
        <p:nvSpPr>
          <p:cNvPr id="4" name="Oval 3">
            <a:extLst>
              <a:ext uri="{FF2B5EF4-FFF2-40B4-BE49-F238E27FC236}">
                <a16:creationId xmlns:a16="http://schemas.microsoft.com/office/drawing/2014/main" id="{84AA88F7-D6F7-47C2-9AD6-C2BFAB6D2534}"/>
              </a:ext>
            </a:extLst>
          </p:cNvPr>
          <p:cNvSpPr/>
          <p:nvPr/>
        </p:nvSpPr>
        <p:spPr>
          <a:xfrm>
            <a:off x="9015212" y="492606"/>
            <a:ext cx="412124" cy="4121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Tree>
    <p:extLst>
      <p:ext uri="{BB962C8B-B14F-4D97-AF65-F5344CB8AC3E}">
        <p14:creationId xmlns:p14="http://schemas.microsoft.com/office/powerpoint/2010/main" val="1466173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BC4003-696B-4C70-95F2-1CBB4013175B}"/>
              </a:ext>
            </a:extLst>
          </p:cNvPr>
          <p:cNvSpPr txBox="1"/>
          <p:nvPr/>
        </p:nvSpPr>
        <p:spPr>
          <a:xfrm>
            <a:off x="206062" y="349806"/>
            <a:ext cx="6156100" cy="369332"/>
          </a:xfrm>
          <a:prstGeom prst="rect">
            <a:avLst/>
          </a:prstGeom>
          <a:noFill/>
        </p:spPr>
        <p:txBody>
          <a:bodyPr wrap="square">
            <a:spAutoFit/>
          </a:bodyPr>
          <a:lstStyle/>
          <a:p>
            <a:r>
              <a:rPr lang="en-US" sz="1800">
                <a:solidFill>
                  <a:srgbClr val="000000"/>
                </a:solidFill>
                <a:latin typeface="Times New Roman" panose="02020603050405020304" pitchFamily="18" charset="0"/>
              </a:rPr>
              <a:t>Contoh Hasil Eksekusi </a:t>
            </a:r>
            <a:endParaRPr lang="en-US"/>
          </a:p>
        </p:txBody>
      </p:sp>
      <p:pic>
        <p:nvPicPr>
          <p:cNvPr id="5" name="Picture 4">
            <a:extLst>
              <a:ext uri="{FF2B5EF4-FFF2-40B4-BE49-F238E27FC236}">
                <a16:creationId xmlns:a16="http://schemas.microsoft.com/office/drawing/2014/main" id="{29CFC074-C7D8-4122-9997-DA2A923ADC8D}"/>
              </a:ext>
            </a:extLst>
          </p:cNvPr>
          <p:cNvPicPr>
            <a:picLocks noChangeAspect="1"/>
          </p:cNvPicPr>
          <p:nvPr/>
        </p:nvPicPr>
        <p:blipFill>
          <a:blip r:embed="rId2"/>
          <a:stretch>
            <a:fillRect/>
          </a:stretch>
        </p:blipFill>
        <p:spPr>
          <a:xfrm>
            <a:off x="343055" y="1025745"/>
            <a:ext cx="7934584" cy="3559134"/>
          </a:xfrm>
          <a:prstGeom prst="rect">
            <a:avLst/>
          </a:prstGeom>
        </p:spPr>
      </p:pic>
    </p:spTree>
    <p:extLst>
      <p:ext uri="{BB962C8B-B14F-4D97-AF65-F5344CB8AC3E}">
        <p14:creationId xmlns:p14="http://schemas.microsoft.com/office/powerpoint/2010/main" val="2114024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20C9F0-C437-47E4-A5D3-A840A83E7016}"/>
              </a:ext>
            </a:extLst>
          </p:cNvPr>
          <p:cNvPicPr>
            <a:picLocks noChangeAspect="1"/>
          </p:cNvPicPr>
          <p:nvPr/>
        </p:nvPicPr>
        <p:blipFill>
          <a:blip r:embed="rId2"/>
          <a:stretch>
            <a:fillRect/>
          </a:stretch>
        </p:blipFill>
        <p:spPr>
          <a:xfrm>
            <a:off x="467081" y="796090"/>
            <a:ext cx="7865550" cy="4037756"/>
          </a:xfrm>
          <a:prstGeom prst="rect">
            <a:avLst/>
          </a:prstGeom>
        </p:spPr>
      </p:pic>
    </p:spTree>
    <p:extLst>
      <p:ext uri="{BB962C8B-B14F-4D97-AF65-F5344CB8AC3E}">
        <p14:creationId xmlns:p14="http://schemas.microsoft.com/office/powerpoint/2010/main" val="1756887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768756-D7A3-4583-9636-947526238BFF}"/>
              </a:ext>
            </a:extLst>
          </p:cNvPr>
          <p:cNvSpPr txBox="1"/>
          <p:nvPr/>
        </p:nvSpPr>
        <p:spPr>
          <a:xfrm>
            <a:off x="218941" y="156623"/>
            <a:ext cx="6156100" cy="369332"/>
          </a:xfrm>
          <a:prstGeom prst="rect">
            <a:avLst/>
          </a:prstGeom>
          <a:noFill/>
        </p:spPr>
        <p:txBody>
          <a:bodyPr wrap="square">
            <a:spAutoFit/>
          </a:bodyPr>
          <a:lstStyle/>
          <a:p>
            <a:r>
              <a:rPr lang="en-US" sz="1800">
                <a:solidFill>
                  <a:srgbClr val="000000"/>
                </a:solidFill>
                <a:latin typeface="Times New Roman" panose="02020603050405020304" pitchFamily="18" charset="0"/>
              </a:rPr>
              <a:t>Contoh Hasil Eksekusi (User dan password diisi ADMIN) </a:t>
            </a:r>
            <a:endParaRPr lang="en-US"/>
          </a:p>
        </p:txBody>
      </p:sp>
      <p:pic>
        <p:nvPicPr>
          <p:cNvPr id="5" name="Picture 4">
            <a:extLst>
              <a:ext uri="{FF2B5EF4-FFF2-40B4-BE49-F238E27FC236}">
                <a16:creationId xmlns:a16="http://schemas.microsoft.com/office/drawing/2014/main" id="{9C68223B-927E-4B41-B083-BC8B088E99D3}"/>
              </a:ext>
            </a:extLst>
          </p:cNvPr>
          <p:cNvPicPr>
            <a:picLocks noChangeAspect="1"/>
          </p:cNvPicPr>
          <p:nvPr/>
        </p:nvPicPr>
        <p:blipFill>
          <a:blip r:embed="rId2"/>
          <a:stretch>
            <a:fillRect/>
          </a:stretch>
        </p:blipFill>
        <p:spPr>
          <a:xfrm>
            <a:off x="465062" y="791696"/>
            <a:ext cx="3959222" cy="2015898"/>
          </a:xfrm>
          <a:prstGeom prst="rect">
            <a:avLst/>
          </a:prstGeom>
        </p:spPr>
      </p:pic>
      <p:pic>
        <p:nvPicPr>
          <p:cNvPr id="7" name="Picture 6">
            <a:extLst>
              <a:ext uri="{FF2B5EF4-FFF2-40B4-BE49-F238E27FC236}">
                <a16:creationId xmlns:a16="http://schemas.microsoft.com/office/drawing/2014/main" id="{036D1F28-1AE2-45E0-A125-DD20D3CC6ED4}"/>
              </a:ext>
            </a:extLst>
          </p:cNvPr>
          <p:cNvPicPr>
            <a:picLocks noChangeAspect="1"/>
          </p:cNvPicPr>
          <p:nvPr/>
        </p:nvPicPr>
        <p:blipFill>
          <a:blip r:embed="rId3"/>
          <a:stretch>
            <a:fillRect/>
          </a:stretch>
        </p:blipFill>
        <p:spPr>
          <a:xfrm>
            <a:off x="4177201" y="2234339"/>
            <a:ext cx="6009988" cy="3741870"/>
          </a:xfrm>
          <a:prstGeom prst="rect">
            <a:avLst/>
          </a:prstGeom>
        </p:spPr>
      </p:pic>
    </p:spTree>
    <p:extLst>
      <p:ext uri="{BB962C8B-B14F-4D97-AF65-F5344CB8AC3E}">
        <p14:creationId xmlns:p14="http://schemas.microsoft.com/office/powerpoint/2010/main" val="1327986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D31BAA-F77E-4D5A-9EA5-3DFE6FBF8C06}"/>
              </a:ext>
            </a:extLst>
          </p:cNvPr>
          <p:cNvSpPr txBox="1"/>
          <p:nvPr/>
        </p:nvSpPr>
        <p:spPr>
          <a:xfrm>
            <a:off x="154547" y="156624"/>
            <a:ext cx="6156100" cy="369332"/>
          </a:xfrm>
          <a:prstGeom prst="rect">
            <a:avLst/>
          </a:prstGeom>
          <a:noFill/>
        </p:spPr>
        <p:txBody>
          <a:bodyPr wrap="square">
            <a:spAutoFit/>
          </a:bodyPr>
          <a:lstStyle/>
          <a:p>
            <a:r>
              <a:rPr lang="en-US" sz="1800">
                <a:solidFill>
                  <a:srgbClr val="000000"/>
                </a:solidFill>
                <a:latin typeface="Times New Roman" panose="02020603050405020304" pitchFamily="18" charset="0"/>
              </a:rPr>
              <a:t>Contoh Hasil Eksekusi (klik tombol refresh)</a:t>
            </a:r>
          </a:p>
        </p:txBody>
      </p:sp>
      <p:pic>
        <p:nvPicPr>
          <p:cNvPr id="5" name="Picture 4">
            <a:extLst>
              <a:ext uri="{FF2B5EF4-FFF2-40B4-BE49-F238E27FC236}">
                <a16:creationId xmlns:a16="http://schemas.microsoft.com/office/drawing/2014/main" id="{139F9EFB-A7BD-4130-B155-F077B30CE83C}"/>
              </a:ext>
            </a:extLst>
          </p:cNvPr>
          <p:cNvPicPr>
            <a:picLocks noChangeAspect="1"/>
          </p:cNvPicPr>
          <p:nvPr/>
        </p:nvPicPr>
        <p:blipFill>
          <a:blip r:embed="rId2"/>
          <a:stretch>
            <a:fillRect/>
          </a:stretch>
        </p:blipFill>
        <p:spPr>
          <a:xfrm>
            <a:off x="290941" y="803347"/>
            <a:ext cx="4646402" cy="2892890"/>
          </a:xfrm>
          <a:prstGeom prst="rect">
            <a:avLst/>
          </a:prstGeom>
        </p:spPr>
      </p:pic>
      <p:pic>
        <p:nvPicPr>
          <p:cNvPr id="7" name="Picture 6">
            <a:extLst>
              <a:ext uri="{FF2B5EF4-FFF2-40B4-BE49-F238E27FC236}">
                <a16:creationId xmlns:a16="http://schemas.microsoft.com/office/drawing/2014/main" id="{D00FDC9A-1D39-4D13-ADBE-081812AD7721}"/>
              </a:ext>
            </a:extLst>
          </p:cNvPr>
          <p:cNvPicPr>
            <a:picLocks noChangeAspect="1"/>
          </p:cNvPicPr>
          <p:nvPr/>
        </p:nvPicPr>
        <p:blipFill>
          <a:blip r:embed="rId3"/>
          <a:stretch>
            <a:fillRect/>
          </a:stretch>
        </p:blipFill>
        <p:spPr>
          <a:xfrm>
            <a:off x="4343957" y="2530598"/>
            <a:ext cx="5641649" cy="2892890"/>
          </a:xfrm>
          <a:prstGeom prst="rect">
            <a:avLst/>
          </a:prstGeom>
        </p:spPr>
      </p:pic>
    </p:spTree>
    <p:extLst>
      <p:ext uri="{BB962C8B-B14F-4D97-AF65-F5344CB8AC3E}">
        <p14:creationId xmlns:p14="http://schemas.microsoft.com/office/powerpoint/2010/main" val="1916496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7D5B0-CAF7-45A2-B0D1-E8315A4FC920}"/>
              </a:ext>
            </a:extLst>
          </p:cNvPr>
          <p:cNvSpPr>
            <a:spLocks noGrp="1"/>
          </p:cNvSpPr>
          <p:nvPr>
            <p:ph type="title"/>
          </p:nvPr>
        </p:nvSpPr>
        <p:spPr/>
        <p:txBody>
          <a:bodyPr/>
          <a:lstStyle/>
          <a:p>
            <a:pPr algn="ctr"/>
            <a:r>
              <a:rPr lang="en-ID" sz="11500">
                <a:latin typeface="Aharoni" panose="02010803020104030203" pitchFamily="2" charset="-79"/>
                <a:cs typeface="Aharoni" panose="02010803020104030203" pitchFamily="2" charset="-79"/>
              </a:rPr>
              <a:t>SELESAI</a:t>
            </a:r>
          </a:p>
        </p:txBody>
      </p:sp>
    </p:spTree>
    <p:extLst>
      <p:ext uri="{BB962C8B-B14F-4D97-AF65-F5344CB8AC3E}">
        <p14:creationId xmlns:p14="http://schemas.microsoft.com/office/powerpoint/2010/main" val="516666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8398991"/>
      </p:ext>
    </p:extLst>
  </p:cSld>
  <p:clrMapOvr>
    <a:masterClrMapping/>
  </p:clrMapOvr>
</p:sld>
</file>

<file path=ppt/theme/theme1.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4095</TotalTime>
  <Words>535</Words>
  <Application>Microsoft Office PowerPoint</Application>
  <PresentationFormat>Widescreen</PresentationFormat>
  <Paragraphs>78</Paragraphs>
  <Slides>19</Slides>
  <Notes>0</Notes>
  <HiddenSlides>0</HiddenSlides>
  <MMClips>0</MMClips>
  <ScaleCrop>false</ScaleCrop>
  <HeadingPairs>
    <vt:vector size="6" baseType="variant">
      <vt:variant>
        <vt:lpstr>Fonts Used</vt:lpstr>
      </vt:variant>
      <vt:variant>
        <vt:i4>9</vt:i4>
      </vt:variant>
      <vt:variant>
        <vt:lpstr>Theme</vt:lpstr>
      </vt:variant>
      <vt:variant>
        <vt:i4>8</vt:i4>
      </vt:variant>
      <vt:variant>
        <vt:lpstr>Slide Titles</vt:lpstr>
      </vt:variant>
      <vt:variant>
        <vt:i4>19</vt:i4>
      </vt:variant>
    </vt:vector>
  </HeadingPairs>
  <TitlesOfParts>
    <vt:vector size="36" baseType="lpstr">
      <vt:lpstr>Arial (Headings)</vt:lpstr>
      <vt:lpstr>Aharoni</vt:lpstr>
      <vt:lpstr>Antipasto Pro Bold</vt:lpstr>
      <vt:lpstr>Arial</vt:lpstr>
      <vt:lpstr>Calibri</vt:lpstr>
      <vt:lpstr>Calibri Light</vt:lpstr>
      <vt:lpstr>Courier New</vt:lpstr>
      <vt:lpstr>Fira Sans ExtraBold</vt:lpstr>
      <vt:lpstr>Times New Roman</vt:lpstr>
      <vt:lpstr>6_Office Theme</vt:lpstr>
      <vt:lpstr>7_Office Theme</vt:lpstr>
      <vt:lpstr>4_Office Theme</vt:lpstr>
      <vt:lpstr>3_Office Theme</vt:lpstr>
      <vt:lpstr>2_Office Theme</vt:lpstr>
      <vt:lpstr>Office Theme</vt:lpstr>
      <vt:lpstr>5_Office Theme</vt:lpstr>
      <vt:lpstr>1_Office Theme</vt:lpstr>
      <vt:lpstr>PowerPoint Presentation</vt:lpstr>
      <vt:lpstr>Pertemuan 10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SELESAI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lisda masitoh</dc:creator>
  <cp:lastModifiedBy>hendri ardiansyah</cp:lastModifiedBy>
  <cp:revision>102</cp:revision>
  <dcterms:created xsi:type="dcterms:W3CDTF">2021-08-16T10:58:02Z</dcterms:created>
  <dcterms:modified xsi:type="dcterms:W3CDTF">2021-08-28T07:40:16Z</dcterms:modified>
</cp:coreProperties>
</file>